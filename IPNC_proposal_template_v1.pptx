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3" r:id="rId2"/>
    <p:sldId id="275" r:id="rId3"/>
    <p:sldId id="267" r:id="rId4"/>
    <p:sldId id="269" r:id="rId5"/>
    <p:sldId id="270" r:id="rId6"/>
    <p:sldId id="271" r:id="rId7"/>
    <p:sldId id="268" r:id="rId8"/>
    <p:sldId id="274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6"/>
    <p:restoredTop sz="94678"/>
  </p:normalViewPr>
  <p:slideViewPr>
    <p:cSldViewPr snapToGrid="0">
      <p:cViewPr varScale="1">
        <p:scale>
          <a:sx n="99" d="100"/>
          <a:sy n="99" d="100"/>
        </p:scale>
        <p:origin x="19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BB76E-C2DC-2E45-A689-CADF17522C9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3FD17-90D1-9E4D-92E2-03DF2A96A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22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CE29-FCA4-C885-16CA-0298B7964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CC0DC-F1E4-B8C4-415A-ABB6817A0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15B3E-90D7-8E02-4A36-1595A2A1E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0562-74C8-7C45-BBD4-77D7FEAF4473}" type="datetime1">
              <a:rPr lang="en-US" smtClean="0"/>
              <a:t>4/15/26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47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5C987-4C16-8909-599B-A1D15681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A48C6-57C9-0DCE-F470-1C0B37C3A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D26B-0EA2-1356-C70B-07823375B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CFC2-C7C1-EE40-9A89-71680BFB64F7}" type="datetime1">
              <a:rPr lang="en-US" smtClean="0"/>
              <a:t>4/16/26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AEF1F-1973-9944-179E-73D4DA8E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3127" y="6356350"/>
            <a:ext cx="3650673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 International PRRSV-2  Nomenclature Consortium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F0BF28-17ED-BED4-58AF-B423EA104B8B}"/>
              </a:ext>
            </a:extLst>
          </p:cNvPr>
          <p:cNvSpPr txBox="1"/>
          <p:nvPr userDrawn="1"/>
        </p:nvSpPr>
        <p:spPr>
          <a:xfrm>
            <a:off x="9933709" y="1072"/>
            <a:ext cx="1728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60277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45BA-B95A-1F71-4B1B-2F6711585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C3751-CBFD-EB03-7916-DAE213CA9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062FE-4093-F305-DABE-E7DC189B4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2890-756B-D14E-A63F-D0F696CFA9B7}" type="datetime1">
              <a:rPr lang="en-US" smtClean="0"/>
              <a:t>4/15/26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BAC45-5AD4-2790-9BD1-C80B8B43D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2930" y="6356350"/>
            <a:ext cx="369087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 International PRRSV-2  Nomenclature Consortium</a:t>
            </a:r>
          </a:p>
        </p:txBody>
      </p:sp>
    </p:spTree>
    <p:extLst>
      <p:ext uri="{BB962C8B-B14F-4D97-AF65-F5344CB8AC3E}">
        <p14:creationId xmlns:p14="http://schemas.microsoft.com/office/powerpoint/2010/main" val="1130520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6AF1C-B1C3-3D75-E760-7431633A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D9615-5B84-4FE5-4F07-5629E19262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04F76-750E-D456-933A-68E7C2263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03FEF-0CAA-CBCA-9DC9-15FF4EBCB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6B8DE-7815-3549-A13D-EC77FF0D7237}" type="datetime1">
              <a:rPr lang="en-US" smtClean="0"/>
              <a:t>4/16/26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B01ABD8-B25E-4DE4-F545-624F57E31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14445" y="6537505"/>
            <a:ext cx="36393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 International PRRSV-2  Nomenclature Consortium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79DC5-DC9E-C201-56F9-941AC3146791}"/>
              </a:ext>
            </a:extLst>
          </p:cNvPr>
          <p:cNvSpPr txBox="1"/>
          <p:nvPr userDrawn="1"/>
        </p:nvSpPr>
        <p:spPr>
          <a:xfrm>
            <a:off x="9933709" y="1072"/>
            <a:ext cx="1728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68170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A0C5-42A8-6509-E876-1678155EB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D0638-B216-C725-BB41-94056EF2E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195A0-F875-822C-698C-1F5D26D70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269B77-D04D-2AB2-BBF9-803640FA5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89D187-FAFE-6A09-1046-A798DBAA2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BE726-691B-589A-CAD3-8896D0E53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9663-B92F-974A-A26F-44BEF6217D0D}" type="datetime1">
              <a:rPr lang="en-US" smtClean="0"/>
              <a:t>4/16/26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4890781-9688-0046-D074-18A3BCBD13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714445" y="6537505"/>
            <a:ext cx="36393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 International PRRSV-2  Nomenclature Consortium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0E95A6-2867-EA63-75F0-F3BAC5AA0880}"/>
              </a:ext>
            </a:extLst>
          </p:cNvPr>
          <p:cNvSpPr txBox="1"/>
          <p:nvPr userDrawn="1"/>
        </p:nvSpPr>
        <p:spPr>
          <a:xfrm>
            <a:off x="9933709" y="1072"/>
            <a:ext cx="1728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6346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3670C-9DF2-3CCF-D828-7AF5DA8A1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DA9B38-E043-F6E1-72E9-924188A56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8583-F5F6-D344-A8C2-84A972A04C0D}" type="datetime1">
              <a:rPr lang="en-US" smtClean="0"/>
              <a:t>4/16/26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74A41-0612-E447-6D78-ABEB1DE99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14445" y="6537505"/>
            <a:ext cx="36393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 International PRRSV-2  Nomenclature Consortium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0A76F-2314-C96B-5B33-166CAD9B7C9D}"/>
              </a:ext>
            </a:extLst>
          </p:cNvPr>
          <p:cNvSpPr txBox="1"/>
          <p:nvPr userDrawn="1"/>
        </p:nvSpPr>
        <p:spPr>
          <a:xfrm>
            <a:off x="9933709" y="1072"/>
            <a:ext cx="1728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501651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5E4EC-832A-A3CA-E6BC-3A39A586A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6F27A-DA3A-1046-B0A2-5D7BF9FC8098}" type="datetime1">
              <a:rPr lang="en-US" smtClean="0"/>
              <a:t>4/16/26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917C2F4-06C9-DF61-4527-5FB8D4E66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14445" y="6537505"/>
            <a:ext cx="36393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 International PRRSV-2  Nomenclature Consortium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46A392-148A-F79F-DAD1-B3C9BC64AEA9}"/>
              </a:ext>
            </a:extLst>
          </p:cNvPr>
          <p:cNvSpPr txBox="1"/>
          <p:nvPr userDrawn="1"/>
        </p:nvSpPr>
        <p:spPr>
          <a:xfrm>
            <a:off x="9933709" y="1072"/>
            <a:ext cx="1728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29620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8C6C85-026D-2519-F085-48983ED4F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DD12F-450C-CB34-15A4-5E951E512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A25DC-08EC-27E4-AD54-63F0E54BAF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5DDE3-67D7-874C-83A0-A4BEC594E222}" type="datetime1">
              <a:rPr lang="en-US" smtClean="0"/>
              <a:t>4/16/26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D5E17-D459-45D5-4DE7-845B8BF397D7}"/>
              </a:ext>
            </a:extLst>
          </p:cNvPr>
          <p:cNvSpPr txBox="1"/>
          <p:nvPr userDrawn="1"/>
        </p:nvSpPr>
        <p:spPr>
          <a:xfrm>
            <a:off x="9933709" y="1072"/>
            <a:ext cx="1728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CONFIDENTIAL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2A8381-8DF4-D9E9-CA20-17D9C460FB1E}"/>
              </a:ext>
            </a:extLst>
          </p:cNvPr>
          <p:cNvSpPr txBox="1"/>
          <p:nvPr userDrawn="1"/>
        </p:nvSpPr>
        <p:spPr>
          <a:xfrm>
            <a:off x="7041524" y="6487596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International PRRSV-2  Nomenclature Consortium</a:t>
            </a:r>
          </a:p>
        </p:txBody>
      </p:sp>
    </p:spTree>
    <p:extLst>
      <p:ext uri="{BB962C8B-B14F-4D97-AF65-F5344CB8AC3E}">
        <p14:creationId xmlns:p14="http://schemas.microsoft.com/office/powerpoint/2010/main" val="2632253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lades.nextstrain.org/?dataset-name=community/isuvdl/mazeller/prrsv2/orf5/yimim2023" TargetMode="External"/><Relationship Id="rId2" Type="http://schemas.openxmlformats.org/officeDocument/2006/relationships/hyperlink" Target="https://stemma.shinyapps.io/PRRSLo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E0E36-5DC5-5222-0AEF-AFDB552B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E6BDF-BCCF-AADB-003B-E1E4773CF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Proposal date:</a:t>
            </a:r>
          </a:p>
          <a:p>
            <a:r>
              <a:rPr lang="en-US" dirty="0"/>
              <a:t>Proposers: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06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96858-B690-CF23-4584-B0EE2974D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A0B5-E4CA-1189-A9F7-E9CC3C173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of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5DA89-350C-19C8-41FB-D05D0431C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Provide a brief statement describing the sequence data </a:t>
            </a:r>
          </a:p>
          <a:p>
            <a:pPr lvl="2"/>
            <a:r>
              <a:rPr lang="en-US" dirty="0"/>
              <a:t>(number, locations, years, other relevant info to help understand the nature of the data)</a:t>
            </a:r>
          </a:p>
          <a:p>
            <a:r>
              <a:rPr lang="en-US" dirty="0"/>
              <a:t>Provide a brief statement on other sequences included in the analysis</a:t>
            </a:r>
          </a:p>
          <a:p>
            <a:pPr lvl="2"/>
            <a:r>
              <a:rPr lang="en-US" dirty="0"/>
              <a:t>This should include the IPNC reference dataset, but may also include additional sequences from the region of interest</a:t>
            </a:r>
          </a:p>
          <a:p>
            <a:r>
              <a:rPr lang="en-US" dirty="0"/>
              <a:t>Sequence analysis:</a:t>
            </a:r>
          </a:p>
          <a:p>
            <a:pPr lvl="2"/>
            <a:r>
              <a:rPr lang="en-US" dirty="0"/>
              <a:t>Describe any pre-processing applied to data, including the alignment algorithm used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16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59E9-2072-C55F-5493-4B8E4D5E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Classification in current webtools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27016-B026-FC23-A7E4-2A6738802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PRRS-Loom</a:t>
            </a:r>
          </a:p>
          <a:p>
            <a:pPr lvl="1"/>
            <a:r>
              <a:rPr lang="en-US" dirty="0">
                <a:latin typeface="Helvetica" pitchFamily="2" charset="0"/>
              </a:rPr>
              <a:t>Describe or show in a table how sequences were classified in PRRS-Loom</a:t>
            </a:r>
          </a:p>
          <a:p>
            <a:pPr lvl="2"/>
            <a:r>
              <a:rPr lang="en-US" sz="1600" dirty="0">
                <a:latin typeface="Helvetica" pitchFamily="2" charset="0"/>
                <a:hlinkClick r:id="rId2"/>
              </a:rPr>
              <a:t>https://stemma.shinyapps.io/PRRSLoom/</a:t>
            </a:r>
            <a:r>
              <a:rPr lang="en-US" sz="1600" dirty="0">
                <a:latin typeface="Helvetica" pitchFamily="2" charset="0"/>
              </a:rPr>
              <a:t> </a:t>
            </a:r>
          </a:p>
          <a:p>
            <a:r>
              <a:rPr lang="en-US" sz="2400" dirty="0" err="1">
                <a:latin typeface="Helvetica" pitchFamily="2" charset="0"/>
              </a:rPr>
              <a:t>Nextclade</a:t>
            </a:r>
            <a:endParaRPr lang="en-US" sz="2400" dirty="0">
              <a:latin typeface="Helvetica" pitchFamily="2" charset="0"/>
            </a:endParaRPr>
          </a:p>
          <a:p>
            <a:pPr lvl="1"/>
            <a:r>
              <a:rPr lang="en-US" sz="2000" dirty="0">
                <a:latin typeface="Helvetica" pitchFamily="2" charset="0"/>
              </a:rPr>
              <a:t>Describe which lineages sequences were assigned to in </a:t>
            </a:r>
            <a:r>
              <a:rPr lang="en-US" sz="2000" dirty="0" err="1">
                <a:latin typeface="Helvetica" pitchFamily="2" charset="0"/>
              </a:rPr>
              <a:t>Nextclade</a:t>
            </a:r>
            <a:endParaRPr lang="en-US" sz="2000" dirty="0">
              <a:latin typeface="Helvetica" pitchFamily="2" charset="0"/>
            </a:endParaRPr>
          </a:p>
          <a:p>
            <a:pPr lvl="1"/>
            <a:r>
              <a:rPr lang="en-US" sz="2000" dirty="0">
                <a:latin typeface="Helvetica" pitchFamily="2" charset="0"/>
              </a:rPr>
              <a:t>Note how many of the sequences had poor QC based on excess ”Private mutations”</a:t>
            </a:r>
          </a:p>
          <a:p>
            <a:pPr lvl="2"/>
            <a:r>
              <a:rPr lang="en-US" sz="1600" dirty="0">
                <a:latin typeface="Helvetica" pitchFamily="2" charset="0"/>
                <a:hlinkClick r:id="rId3"/>
              </a:rPr>
              <a:t>https://clades.nextstrain.org/?dataset-name=community/isuvdl/mazeller/prrsv2/orf5/yimim2023</a:t>
            </a:r>
            <a:r>
              <a:rPr lang="en-US" sz="1600" dirty="0">
                <a:latin typeface="Helvetica" pitchFamily="2" charset="0"/>
              </a:rPr>
              <a:t> </a:t>
            </a:r>
          </a:p>
          <a:p>
            <a:pPr lvl="1"/>
            <a:endParaRPr lang="en-US" dirty="0">
              <a:latin typeface="Helvetica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42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0375-7CBE-4CD7-21A3-FC2A18301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Phylogenetic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264A0-4C54-8D7F-B47A-F182B0F02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94" indent="-457200"/>
            <a:r>
              <a:rPr lang="en-US" sz="2200" dirty="0"/>
              <a:t>Add a high-resolution phylogenetic tree</a:t>
            </a:r>
          </a:p>
          <a:p>
            <a:pPr marL="857294" lvl="1" indent="-457200"/>
            <a:r>
              <a:rPr lang="en-US" sz="1800" dirty="0"/>
              <a:t>Tree should be constructed using one of the suggested methods on the IPNC </a:t>
            </a:r>
            <a:r>
              <a:rPr lang="en-US" sz="1800" dirty="0" err="1"/>
              <a:t>github</a:t>
            </a:r>
            <a:r>
              <a:rPr lang="en-US" sz="1800" dirty="0"/>
              <a:t> webpage</a:t>
            </a:r>
          </a:p>
          <a:p>
            <a:pPr marL="857294" lvl="1" indent="-457200"/>
            <a:r>
              <a:rPr lang="en-US" sz="1800" dirty="0"/>
              <a:t>Annotate the lineage/sub-lineage and the proposed new clade on the tree</a:t>
            </a:r>
          </a:p>
          <a:p>
            <a:pPr marL="857294" lvl="1" indent="-457200"/>
            <a:endParaRPr lang="en-US" sz="1800" dirty="0"/>
          </a:p>
          <a:p>
            <a:pPr marL="400094" indent="-457200"/>
            <a:r>
              <a:rPr lang="en-US" sz="2200" dirty="0"/>
              <a:t>Report the bootstrap support of ancestral node of the new clade</a:t>
            </a:r>
          </a:p>
          <a:p>
            <a:pPr marL="400094" indent="-457200"/>
            <a:r>
              <a:rPr lang="en-US" sz="2200" dirty="0"/>
              <a:t>Describe whether the new clade is nested within an existing lineage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21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4216-0F0C-38AA-23FC-E511B8055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Genetic distances of new clade from recognized sub-lineages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C3197D-6D2B-9B8E-673E-5A86CC44B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0562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Report in tabular format the mean genetic distance (raw) or nucleotide identify of the proposed new clade to recognized sub-lineages (based on the IPNC reference set)</a:t>
            </a:r>
          </a:p>
          <a:p>
            <a:r>
              <a:rPr lang="en-US" sz="2400" i="1" dirty="0"/>
              <a:t>Example table: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14DDA9C8-8E7B-8B05-AFCB-14561A587A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6976436"/>
              </p:ext>
            </p:extLst>
          </p:nvPr>
        </p:nvGraphicFramePr>
        <p:xfrm>
          <a:off x="3187700" y="3429000"/>
          <a:ext cx="5816600" cy="33440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8820">
                  <a:extLst>
                    <a:ext uri="{9D8B030D-6E8A-4147-A177-3AD203B41FA5}">
                      <a16:colId xmlns:a16="http://schemas.microsoft.com/office/drawing/2014/main" val="1065069728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2903319071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398618140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3155567829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1923566824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1585271275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781179525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3348988513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3538447980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1125191114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3058011663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137943771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3936592310"/>
                    </a:ext>
                  </a:extLst>
                </a:gridCol>
              </a:tblGrid>
              <a:tr h="25209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Lineage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L1A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L1B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L1C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….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L7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L8A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L8B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L8C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L9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L10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L11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New Clade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871117056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L1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14.49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118126802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L2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18.77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11.14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923192504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L3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20.15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19.94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14.06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800273208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L4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16.70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15.13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16.96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391678179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L5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17.82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13.77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18.25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…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4.82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709551654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L6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18.86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17.30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20.73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…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13.39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5.78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6380005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L7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16.72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14.19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16.79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…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10.59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13.25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0.36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733232527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L8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18.42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16.23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18.68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…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13.43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14.85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11.45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10.53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781170817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L9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18.38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16.14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18.87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…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13.47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14.00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10.44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12.62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10.56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850192354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L10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17.60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14.88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18.09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…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12.94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15.82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10.29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13.29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12.94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4.52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02604093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L11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18.27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16.65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18.65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…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15.15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17.07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15.01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16.85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16.13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15.70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12.37</a:t>
                      </a: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451564545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New clade</a:t>
                      </a:r>
                      <a:endParaRPr lang="en-US" sz="10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effectLst/>
                        </a:rPr>
                        <a:t>19.85</a:t>
                      </a:r>
                      <a:endParaRPr lang="en-US" sz="1000" kern="100" dirty="0"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effectLst/>
                        </a:rPr>
                        <a:t>18.58</a:t>
                      </a:r>
                      <a:endParaRPr lang="en-US" sz="1000" kern="100" dirty="0"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effectLst/>
                        </a:rPr>
                        <a:t>19.64</a:t>
                      </a:r>
                      <a:endParaRPr lang="en-US" sz="1000" kern="100"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effectLst/>
                        </a:rPr>
                        <a:t>…</a:t>
                      </a:r>
                      <a:endParaRPr lang="en-US" sz="1000" kern="100" dirty="0"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effectLst/>
                        </a:rPr>
                        <a:t>15.63</a:t>
                      </a:r>
                      <a:endParaRPr lang="en-US" sz="1000" kern="100" dirty="0"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effectLst/>
                        </a:rPr>
                        <a:t>18.41</a:t>
                      </a:r>
                      <a:endParaRPr lang="en-US" sz="1000" kern="100"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effectLst/>
                        </a:rPr>
                        <a:t>15.83</a:t>
                      </a:r>
                      <a:endParaRPr lang="en-US" sz="1000" kern="100" dirty="0"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effectLst/>
                        </a:rPr>
                        <a:t>17.44</a:t>
                      </a:r>
                      <a:endParaRPr lang="en-US" sz="1000" kern="100" dirty="0"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effectLst/>
                        </a:rPr>
                        <a:t>17.85</a:t>
                      </a:r>
                      <a:endParaRPr lang="en-US" sz="1000" kern="100" dirty="0"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effectLst/>
                        </a:rPr>
                        <a:t>17.25</a:t>
                      </a:r>
                      <a:endParaRPr lang="en-US" sz="1000" kern="100" dirty="0"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effectLst/>
                        </a:rPr>
                        <a:t>18.48</a:t>
                      </a:r>
                      <a:endParaRPr lang="en-US" sz="1000" kern="100" dirty="0"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effectLst/>
                        </a:rPr>
                        <a:t>11.61</a:t>
                      </a:r>
                      <a:endParaRPr lang="en-US" sz="1000" kern="100" dirty="0"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52995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045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A433B-FB64-237B-A20A-5CA7103B7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AC16F-A462-0EE6-1FDA-0C179699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Genetic distances of new clade from recognized sub-lineages (BLAST)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3F4A60-CC2A-87C6-D179-E0B110B29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0562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IPNC reference set is a subset of available data. </a:t>
            </a:r>
          </a:p>
          <a:p>
            <a:r>
              <a:rPr lang="en-US" sz="2400" dirty="0"/>
              <a:t>Thus, the purpose of </a:t>
            </a:r>
            <a:r>
              <a:rPr lang="en-US" sz="2400" dirty="0" err="1"/>
              <a:t>BLASTing</a:t>
            </a:r>
            <a:r>
              <a:rPr lang="en-US" sz="2400" dirty="0"/>
              <a:t> the sequences against Genbank is to check if there are sequences from existing lineages that are more closely related to the new clade than the IPNC references</a:t>
            </a:r>
          </a:p>
          <a:p>
            <a:pPr lvl="1"/>
            <a:r>
              <a:rPr lang="en-US" sz="2000" dirty="0"/>
              <a:t>If so, then it is possible that the new clade is part of an existing lineage, and that the reference set should be updated to include this diversity</a:t>
            </a:r>
          </a:p>
          <a:p>
            <a:endParaRPr lang="en-US" sz="2400" dirty="0"/>
          </a:p>
          <a:p>
            <a:r>
              <a:rPr lang="en-US" sz="2400" dirty="0"/>
              <a:t>For a representative sequence in the proposed clade, identify top matches in Genbank (&gt;92% nucleotide identity)</a:t>
            </a:r>
          </a:p>
          <a:p>
            <a:pPr lvl="1"/>
            <a:r>
              <a:rPr lang="en-US" sz="2400" dirty="0"/>
              <a:t>Classify these top matches in PRRS-Loom</a:t>
            </a:r>
          </a:p>
          <a:p>
            <a:pPr lvl="1"/>
            <a:r>
              <a:rPr lang="en-US" dirty="0"/>
              <a:t>Report the genetic distance and lineage assignment of top matches</a:t>
            </a:r>
          </a:p>
          <a:p>
            <a:pPr lvl="1"/>
            <a:endParaRPr lang="en-US" sz="2000" i="1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3212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3C8FC-B5EE-2A8E-EC1C-EB9AC77B2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Recombination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95074-6A91-B4A8-FFA4-DE4EF0917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Run RDP4 or RDP5 with the new clade together with the IPNC references (see IPNC </a:t>
            </a:r>
            <a:r>
              <a:rPr lang="en-US" sz="2400" dirty="0" err="1"/>
              <a:t>github</a:t>
            </a:r>
            <a:r>
              <a:rPr lang="en-US" sz="2400" dirty="0"/>
              <a:t> for guidelines)</a:t>
            </a:r>
          </a:p>
          <a:p>
            <a:r>
              <a:rPr lang="en-US" sz="2400" dirty="0"/>
              <a:t>Report the number of sequences (and the major/minor parents) for which recombination is supported</a:t>
            </a:r>
          </a:p>
          <a:p>
            <a:r>
              <a:rPr lang="en-US" sz="2400" dirty="0"/>
              <a:t>Note: the presence of recombination does not preclude naming a new lineage/sub-lineage. However, it does help clarify its origins.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78632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3649-5DAD-03D2-3CDE-62A628B6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Epidemiological 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DDB54-E520-9061-BFDB-0BFADE716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229"/>
            <a:ext cx="10515600" cy="4674734"/>
          </a:xfrm>
        </p:spPr>
        <p:txBody>
          <a:bodyPr>
            <a:normAutofit/>
          </a:bodyPr>
          <a:lstStyle/>
          <a:p>
            <a:r>
              <a:rPr lang="en-US" sz="2000" dirty="0"/>
              <a:t>Please report epidemiological information that support that the new clade has sustained circulation in the region. This may include:</a:t>
            </a:r>
          </a:p>
          <a:p>
            <a:pPr lvl="1"/>
            <a:r>
              <a:rPr lang="en-US" sz="1800" dirty="0"/>
              <a:t>Number of years it was detected</a:t>
            </a:r>
          </a:p>
          <a:p>
            <a:pPr lvl="1"/>
            <a:r>
              <a:rPr lang="en-US" sz="1800" dirty="0"/>
              <a:t>Spatial distribution (number of provinces or countries)</a:t>
            </a:r>
          </a:p>
          <a:p>
            <a:pPr lvl="1"/>
            <a:r>
              <a:rPr lang="en-US" sz="1800" dirty="0"/>
              <a:t>Relative frequency of the new clade (as a percentage of available sequences from the country)</a:t>
            </a:r>
          </a:p>
          <a:p>
            <a:pPr lvl="1"/>
            <a:r>
              <a:rPr lang="en-US" sz="1800" dirty="0"/>
              <a:t>Evidence that it was detected in at least five swine populations that are not epidemiologically linked</a:t>
            </a:r>
          </a:p>
        </p:txBody>
      </p:sp>
    </p:spTree>
    <p:extLst>
      <p:ext uri="{BB962C8B-B14F-4D97-AF65-F5344CB8AC3E}">
        <p14:creationId xmlns:p14="http://schemas.microsoft.com/office/powerpoint/2010/main" val="51228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3649-5DAD-03D2-3CDE-62A628B6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DDB54-E520-9061-BFDB-0BFADE716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statement:</a:t>
            </a:r>
          </a:p>
          <a:p>
            <a:pPr lvl="1"/>
            <a:r>
              <a:rPr lang="en-US" dirty="0"/>
              <a:t>This clade forms a well-supported (</a:t>
            </a:r>
            <a:r>
              <a:rPr lang="en-US" altLang="en-US" dirty="0">
                <a:solidFill>
                  <a:srgbClr val="000000"/>
                </a:solidFill>
                <a:latin typeface="Helvetica" pitchFamily="2" charset="0"/>
              </a:rPr>
              <a:t>&gt;90% bootstrap support</a:t>
            </a:r>
            <a:r>
              <a:rPr lang="en-US" dirty="0"/>
              <a:t>) monophyletic clade and shows an average genetic distance of &gt;xx% to the closest related lineage.  </a:t>
            </a:r>
          </a:p>
          <a:p>
            <a:r>
              <a:rPr lang="en-US" dirty="0"/>
              <a:t>Within-clade diversity (mean pairwise genetic distance): xx%</a:t>
            </a:r>
          </a:p>
        </p:txBody>
      </p:sp>
    </p:spTree>
    <p:extLst>
      <p:ext uri="{BB962C8B-B14F-4D97-AF65-F5344CB8AC3E}">
        <p14:creationId xmlns:p14="http://schemas.microsoft.com/office/powerpoint/2010/main" val="426544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4772</TotalTime>
  <Words>670</Words>
  <Application>Microsoft Macintosh PowerPoint</Application>
  <PresentationFormat>Widescreen</PresentationFormat>
  <Paragraphs>154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Malgun Gothic</vt:lpstr>
      <vt:lpstr>Aptos</vt:lpstr>
      <vt:lpstr>Aptos Display</vt:lpstr>
      <vt:lpstr>Arial</vt:lpstr>
      <vt:lpstr>Helvetica</vt:lpstr>
      <vt:lpstr>Office Theme</vt:lpstr>
      <vt:lpstr>Proposal Template</vt:lpstr>
      <vt:lpstr>Context of sequences</vt:lpstr>
      <vt:lpstr>1. Classification in current webtools</vt:lpstr>
      <vt:lpstr>2. Phylogenetic tree</vt:lpstr>
      <vt:lpstr>3. Genetic distances of new clade from recognized sub-lineages</vt:lpstr>
      <vt:lpstr>3. Genetic distances of new clade from recognized sub-lineages (BLAST)</vt:lpstr>
      <vt:lpstr>4. Recombination</vt:lpstr>
      <vt:lpstr>5. Epidemiological relevance</vt:lpstr>
      <vt:lpstr>Summary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Kimberly VanderWaal</dc:creator>
  <cp:lastModifiedBy>Kimberly VanderWaal</cp:lastModifiedBy>
  <cp:revision>15</cp:revision>
  <dcterms:created xsi:type="dcterms:W3CDTF">2026-02-23T18:48:37Z</dcterms:created>
  <dcterms:modified xsi:type="dcterms:W3CDTF">2026-04-16T20:21:23Z</dcterms:modified>
</cp:coreProperties>
</file>