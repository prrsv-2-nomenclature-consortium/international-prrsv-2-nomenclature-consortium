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5" r:id="rId5"/>
    <p:sldId id="274" r:id="rId6"/>
    <p:sldId id="277" r:id="rId7"/>
    <p:sldId id="276" r:id="rId8"/>
    <p:sldId id="282" r:id="rId9"/>
    <p:sldId id="278" r:id="rId10"/>
    <p:sldId id="279" r:id="rId11"/>
    <p:sldId id="283" r:id="rId12"/>
    <p:sldId id="281" r:id="rId13"/>
    <p:sldId id="284" r:id="rId14"/>
    <p:sldId id="270" r:id="rId15"/>
    <p:sldId id="280" r:id="rId16"/>
    <p:sldId id="271" r:id="rId17"/>
    <p:sldId id="257" r:id="rId18"/>
    <p:sldId id="261" r:id="rId19"/>
    <p:sldId id="260" r:id="rId20"/>
    <p:sldId id="258" r:id="rId21"/>
    <p:sldId id="262" r:id="rId22"/>
    <p:sldId id="263" r:id="rId23"/>
    <p:sldId id="265" r:id="rId24"/>
    <p:sldId id="266" r:id="rId25"/>
    <p:sldId id="259" r:id="rId26"/>
    <p:sldId id="269" r:id="rId27"/>
    <p:sldId id="267" r:id="rId28"/>
    <p:sldId id="26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 showGuides="1">
      <p:cViewPr varScale="1">
        <p:scale>
          <a:sx n="75" d="100"/>
          <a:sy n="75" d="100"/>
        </p:scale>
        <p:origin x="87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zeller\Desktop\Lab\ipnc\exp1_treebuilding\a_mfp\model_ran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strRef>
              <c:f>Sheet1!$I:$I</c:f>
              <c:strCache>
                <c:ptCount val="177"/>
                <c:pt idx="0">
                  <c:v>num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</c:strCache>
            </c:strRef>
          </c:xVal>
          <c:yVal>
            <c:numRef>
              <c:f>Sheet1!$H:$H</c:f>
              <c:numCache>
                <c:formatCode>General</c:formatCode>
                <c:ptCount val="1048576"/>
                <c:pt idx="0">
                  <c:v>0</c:v>
                </c:pt>
                <c:pt idx="1">
                  <c:v>0</c:v>
                </c:pt>
                <c:pt idx="2">
                  <c:v>3.7439999999987776</c:v>
                </c:pt>
                <c:pt idx="3">
                  <c:v>4.0299999999988358</c:v>
                </c:pt>
                <c:pt idx="4">
                  <c:v>9.6130000000011933</c:v>
                </c:pt>
                <c:pt idx="5">
                  <c:v>11.207999999998719</c:v>
                </c:pt>
                <c:pt idx="6">
                  <c:v>11.546999999998661</c:v>
                </c:pt>
                <c:pt idx="7">
                  <c:v>12.677999999999884</c:v>
                </c:pt>
                <c:pt idx="8">
                  <c:v>16.501000000000204</c:v>
                </c:pt>
                <c:pt idx="9">
                  <c:v>16.778999999998632</c:v>
                </c:pt>
                <c:pt idx="10">
                  <c:v>17.185999999997875</c:v>
                </c:pt>
                <c:pt idx="11">
                  <c:v>17.5</c:v>
                </c:pt>
                <c:pt idx="12">
                  <c:v>18.383999999998196</c:v>
                </c:pt>
                <c:pt idx="13">
                  <c:v>18.541000000001077</c:v>
                </c:pt>
                <c:pt idx="14">
                  <c:v>20.016999999999825</c:v>
                </c:pt>
                <c:pt idx="15">
                  <c:v>20.139999999999418</c:v>
                </c:pt>
                <c:pt idx="16">
                  <c:v>22.274999999997817</c:v>
                </c:pt>
                <c:pt idx="17">
                  <c:v>22.414000000000669</c:v>
                </c:pt>
                <c:pt idx="18">
                  <c:v>23.925999999999476</c:v>
                </c:pt>
                <c:pt idx="19">
                  <c:v>24.279999999998836</c:v>
                </c:pt>
                <c:pt idx="20">
                  <c:v>29.885999999998603</c:v>
                </c:pt>
                <c:pt idx="21">
                  <c:v>30.166000000001077</c:v>
                </c:pt>
                <c:pt idx="22">
                  <c:v>30.379000000000815</c:v>
                </c:pt>
                <c:pt idx="23">
                  <c:v>30.453999999997905</c:v>
                </c:pt>
                <c:pt idx="24">
                  <c:v>30.583999999998923</c:v>
                </c:pt>
                <c:pt idx="25">
                  <c:v>30.852999999999156</c:v>
                </c:pt>
                <c:pt idx="26">
                  <c:v>31.144000000000233</c:v>
                </c:pt>
                <c:pt idx="27">
                  <c:v>31.278999999998632</c:v>
                </c:pt>
                <c:pt idx="28">
                  <c:v>32.46900000000096</c:v>
                </c:pt>
                <c:pt idx="29">
                  <c:v>32.759999999998399</c:v>
                </c:pt>
                <c:pt idx="30">
                  <c:v>32.836999999999534</c:v>
                </c:pt>
                <c:pt idx="31">
                  <c:v>32.881000000001222</c:v>
                </c:pt>
                <c:pt idx="32">
                  <c:v>32.897000000000844</c:v>
                </c:pt>
                <c:pt idx="33">
                  <c:v>33.061999999998079</c:v>
                </c:pt>
                <c:pt idx="34">
                  <c:v>33.184000000001106</c:v>
                </c:pt>
                <c:pt idx="35">
                  <c:v>33.724999999998545</c:v>
                </c:pt>
                <c:pt idx="36">
                  <c:v>33.744999999998981</c:v>
                </c:pt>
                <c:pt idx="37">
                  <c:v>34.096999999997934</c:v>
                </c:pt>
                <c:pt idx="38">
                  <c:v>35.01299999999901</c:v>
                </c:pt>
                <c:pt idx="39">
                  <c:v>35.888999999999214</c:v>
                </c:pt>
                <c:pt idx="40">
                  <c:v>36.435999999997875</c:v>
                </c:pt>
                <c:pt idx="41">
                  <c:v>38.74199999999837</c:v>
                </c:pt>
                <c:pt idx="42">
                  <c:v>39.593000000000757</c:v>
                </c:pt>
                <c:pt idx="43">
                  <c:v>40.399000000001251</c:v>
                </c:pt>
                <c:pt idx="44">
                  <c:v>40.78099999999904</c:v>
                </c:pt>
                <c:pt idx="45">
                  <c:v>41.903999999998632</c:v>
                </c:pt>
                <c:pt idx="46">
                  <c:v>42.364999999997963</c:v>
                </c:pt>
                <c:pt idx="47">
                  <c:v>42.665000000000873</c:v>
                </c:pt>
                <c:pt idx="48">
                  <c:v>43.233000000000175</c:v>
                </c:pt>
                <c:pt idx="49">
                  <c:v>43.398000000001048</c:v>
                </c:pt>
                <c:pt idx="50">
                  <c:v>43.579999999998108</c:v>
                </c:pt>
                <c:pt idx="51">
                  <c:v>43.944999999999709</c:v>
                </c:pt>
                <c:pt idx="52">
                  <c:v>44.345000000001164</c:v>
                </c:pt>
                <c:pt idx="53">
                  <c:v>44.484000000000378</c:v>
                </c:pt>
                <c:pt idx="54">
                  <c:v>45.157999999999447</c:v>
                </c:pt>
                <c:pt idx="55">
                  <c:v>45.216000000000349</c:v>
                </c:pt>
                <c:pt idx="56">
                  <c:v>45.508999999998196</c:v>
                </c:pt>
                <c:pt idx="57">
                  <c:v>45.511999999998807</c:v>
                </c:pt>
                <c:pt idx="58">
                  <c:v>45.791000000001077</c:v>
                </c:pt>
                <c:pt idx="59">
                  <c:v>46.797999999998865</c:v>
                </c:pt>
                <c:pt idx="60">
                  <c:v>46.930000000000291</c:v>
                </c:pt>
                <c:pt idx="61">
                  <c:v>49.190999999998894</c:v>
                </c:pt>
                <c:pt idx="62">
                  <c:v>49.509999999998399</c:v>
                </c:pt>
                <c:pt idx="63">
                  <c:v>49.764999999999418</c:v>
                </c:pt>
                <c:pt idx="64">
                  <c:v>51.695999999999913</c:v>
                </c:pt>
                <c:pt idx="65">
                  <c:v>52.007000000001426</c:v>
                </c:pt>
                <c:pt idx="66">
                  <c:v>52.013999999999214</c:v>
                </c:pt>
                <c:pt idx="67">
                  <c:v>52.44800000000032</c:v>
                </c:pt>
                <c:pt idx="68">
                  <c:v>52.639999999999418</c:v>
                </c:pt>
                <c:pt idx="69">
                  <c:v>54.380000000001019</c:v>
                </c:pt>
                <c:pt idx="70">
                  <c:v>55.066999999999098</c:v>
                </c:pt>
                <c:pt idx="71">
                  <c:v>55.973999999998341</c:v>
                </c:pt>
                <c:pt idx="72">
                  <c:v>57.831999999998516</c:v>
                </c:pt>
                <c:pt idx="73">
                  <c:v>58.548999999999069</c:v>
                </c:pt>
                <c:pt idx="74">
                  <c:v>60.907999999999447</c:v>
                </c:pt>
                <c:pt idx="75">
                  <c:v>61.838999999999942</c:v>
                </c:pt>
                <c:pt idx="76">
                  <c:v>61.915000000000873</c:v>
                </c:pt>
                <c:pt idx="77">
                  <c:v>63.024000000001251</c:v>
                </c:pt>
                <c:pt idx="78">
                  <c:v>65.757999999997992</c:v>
                </c:pt>
                <c:pt idx="79">
                  <c:v>67.149999999997817</c:v>
                </c:pt>
                <c:pt idx="80">
                  <c:v>68.007000000001426</c:v>
                </c:pt>
                <c:pt idx="81">
                  <c:v>94.965000000000146</c:v>
                </c:pt>
                <c:pt idx="82">
                  <c:v>98.234000000000378</c:v>
                </c:pt>
                <c:pt idx="83">
                  <c:v>100.71700000000055</c:v>
                </c:pt>
                <c:pt idx="84">
                  <c:v>100.73800000000119</c:v>
                </c:pt>
                <c:pt idx="85">
                  <c:v>101.01900000000023</c:v>
                </c:pt>
                <c:pt idx="86">
                  <c:v>103.38000000000102</c:v>
                </c:pt>
                <c:pt idx="87">
                  <c:v>103.4330000000009</c:v>
                </c:pt>
                <c:pt idx="88">
                  <c:v>103.6349999999984</c:v>
                </c:pt>
                <c:pt idx="89">
                  <c:v>106.5570000000007</c:v>
                </c:pt>
                <c:pt idx="90">
                  <c:v>106.59000000000015</c:v>
                </c:pt>
                <c:pt idx="91">
                  <c:v>107.10900000000038</c:v>
                </c:pt>
                <c:pt idx="92">
                  <c:v>109.65399999999863</c:v>
                </c:pt>
                <c:pt idx="93">
                  <c:v>109.78199999999924</c:v>
                </c:pt>
                <c:pt idx="94">
                  <c:v>116.14300000000003</c:v>
                </c:pt>
                <c:pt idx="95">
                  <c:v>118.89800000000105</c:v>
                </c:pt>
                <c:pt idx="96">
                  <c:v>118.90499999999884</c:v>
                </c:pt>
                <c:pt idx="97">
                  <c:v>119.50799999999799</c:v>
                </c:pt>
                <c:pt idx="98">
                  <c:v>122.52799999999843</c:v>
                </c:pt>
                <c:pt idx="99">
                  <c:v>125.22000000000116</c:v>
                </c:pt>
                <c:pt idx="100">
                  <c:v>125.90299999999843</c:v>
                </c:pt>
                <c:pt idx="101">
                  <c:v>239.69099999999889</c:v>
                </c:pt>
                <c:pt idx="102">
                  <c:v>240.61999999999898</c:v>
                </c:pt>
                <c:pt idx="103">
                  <c:v>243.45899999999892</c:v>
                </c:pt>
                <c:pt idx="104">
                  <c:v>245.35800000000017</c:v>
                </c:pt>
                <c:pt idx="105">
                  <c:v>251.83299999999872</c:v>
                </c:pt>
                <c:pt idx="106">
                  <c:v>252.05400000000009</c:v>
                </c:pt>
                <c:pt idx="107">
                  <c:v>252.28299999999945</c:v>
                </c:pt>
                <c:pt idx="108">
                  <c:v>253.88299999999799</c:v>
                </c:pt>
                <c:pt idx="109">
                  <c:v>257.23600000000079</c:v>
                </c:pt>
                <c:pt idx="110">
                  <c:v>257.26299999999901</c:v>
                </c:pt>
                <c:pt idx="111">
                  <c:v>258.6349999999984</c:v>
                </c:pt>
                <c:pt idx="112">
                  <c:v>264.63899999999921</c:v>
                </c:pt>
                <c:pt idx="113">
                  <c:v>267.82800000000134</c:v>
                </c:pt>
                <c:pt idx="114">
                  <c:v>267.97299999999814</c:v>
                </c:pt>
                <c:pt idx="115">
                  <c:v>272.20300000000134</c:v>
                </c:pt>
                <c:pt idx="116">
                  <c:v>273.51399999999921</c:v>
                </c:pt>
                <c:pt idx="117">
                  <c:v>276.9419999999991</c:v>
                </c:pt>
                <c:pt idx="118">
                  <c:v>281.91200000000026</c:v>
                </c:pt>
                <c:pt idx="119">
                  <c:v>290.90999999999985</c:v>
                </c:pt>
                <c:pt idx="120">
                  <c:v>292.62700000000041</c:v>
                </c:pt>
                <c:pt idx="121">
                  <c:v>682.05400000000009</c:v>
                </c:pt>
                <c:pt idx="122">
                  <c:v>682.07700000000114</c:v>
                </c:pt>
                <c:pt idx="123">
                  <c:v>683.16200000000026</c:v>
                </c:pt>
                <c:pt idx="124">
                  <c:v>684.80199999999968</c:v>
                </c:pt>
                <c:pt idx="125">
                  <c:v>685.25</c:v>
                </c:pt>
                <c:pt idx="126">
                  <c:v>685.62199999999939</c:v>
                </c:pt>
                <c:pt idx="127">
                  <c:v>686.7390000000014</c:v>
                </c:pt>
                <c:pt idx="128">
                  <c:v>695.72799999999916</c:v>
                </c:pt>
                <c:pt idx="129">
                  <c:v>695.83199999999852</c:v>
                </c:pt>
                <c:pt idx="130">
                  <c:v>699.3080000000009</c:v>
                </c:pt>
                <c:pt idx="131">
                  <c:v>701.15199999999822</c:v>
                </c:pt>
                <c:pt idx="132">
                  <c:v>702.35599999999977</c:v>
                </c:pt>
                <c:pt idx="133">
                  <c:v>704.42699999999968</c:v>
                </c:pt>
                <c:pt idx="134">
                  <c:v>704.43500000000131</c:v>
                </c:pt>
                <c:pt idx="135">
                  <c:v>704.84999999999854</c:v>
                </c:pt>
                <c:pt idx="136">
                  <c:v>705.09899999999834</c:v>
                </c:pt>
                <c:pt idx="137">
                  <c:v>705.5669999999991</c:v>
                </c:pt>
                <c:pt idx="138">
                  <c:v>706.33699999999953</c:v>
                </c:pt>
                <c:pt idx="139">
                  <c:v>715.22199999999793</c:v>
                </c:pt>
                <c:pt idx="140">
                  <c:v>718.85099999999875</c:v>
                </c:pt>
                <c:pt idx="141">
                  <c:v>2400.3950000000004</c:v>
                </c:pt>
                <c:pt idx="142">
                  <c:v>2409.364999999998</c:v>
                </c:pt>
                <c:pt idx="143">
                  <c:v>2412.643</c:v>
                </c:pt>
                <c:pt idx="144">
                  <c:v>2420.155999999999</c:v>
                </c:pt>
                <c:pt idx="145">
                  <c:v>2437.9510000000009</c:v>
                </c:pt>
                <c:pt idx="146">
                  <c:v>2445.0839999999989</c:v>
                </c:pt>
                <c:pt idx="147">
                  <c:v>2446.4939999999988</c:v>
                </c:pt>
                <c:pt idx="148">
                  <c:v>2465.0849999999991</c:v>
                </c:pt>
                <c:pt idx="149">
                  <c:v>2474.155999999999</c:v>
                </c:pt>
                <c:pt idx="150">
                  <c:v>2501.2030000000013</c:v>
                </c:pt>
                <c:pt idx="151">
                  <c:v>2527.9089999999997</c:v>
                </c:pt>
                <c:pt idx="152">
                  <c:v>2531.1569999999992</c:v>
                </c:pt>
                <c:pt idx="153">
                  <c:v>2532.275999999998</c:v>
                </c:pt>
                <c:pt idx="154">
                  <c:v>2532.5699999999997</c:v>
                </c:pt>
                <c:pt idx="155">
                  <c:v>2539.7749999999978</c:v>
                </c:pt>
                <c:pt idx="156">
                  <c:v>2539.8040000000001</c:v>
                </c:pt>
                <c:pt idx="157">
                  <c:v>2542.4589999999989</c:v>
                </c:pt>
                <c:pt idx="158">
                  <c:v>2543.8679999999986</c:v>
                </c:pt>
                <c:pt idx="159">
                  <c:v>2544.1179999999986</c:v>
                </c:pt>
                <c:pt idx="160">
                  <c:v>2545.6039999999994</c:v>
                </c:pt>
                <c:pt idx="161">
                  <c:v>2547.1820000000007</c:v>
                </c:pt>
                <c:pt idx="162">
                  <c:v>2550.8009999999995</c:v>
                </c:pt>
                <c:pt idx="163">
                  <c:v>2551.4670000000006</c:v>
                </c:pt>
                <c:pt idx="164">
                  <c:v>2558.9589999999989</c:v>
                </c:pt>
                <c:pt idx="165">
                  <c:v>2562.5590000000011</c:v>
                </c:pt>
                <c:pt idx="166">
                  <c:v>2563.3199999999997</c:v>
                </c:pt>
                <c:pt idx="167">
                  <c:v>2563.3299999999981</c:v>
                </c:pt>
                <c:pt idx="168">
                  <c:v>2576.0869999999995</c:v>
                </c:pt>
                <c:pt idx="169">
                  <c:v>2585.8640000000014</c:v>
                </c:pt>
                <c:pt idx="170">
                  <c:v>2589.1029999999992</c:v>
                </c:pt>
                <c:pt idx="171">
                  <c:v>2658.4189999999981</c:v>
                </c:pt>
                <c:pt idx="172">
                  <c:v>2731.2939999999981</c:v>
                </c:pt>
                <c:pt idx="173">
                  <c:v>3033.8960000000006</c:v>
                </c:pt>
                <c:pt idx="174">
                  <c:v>3066.2119999999995</c:v>
                </c:pt>
                <c:pt idx="175">
                  <c:v>4864.0060000000012</c:v>
                </c:pt>
                <c:pt idx="176">
                  <c:v>4892.2819999999992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1D6-4F66-B750-87AA4A3820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38872703"/>
        <c:axId val="638876543"/>
      </c:scatterChart>
      <c:valAx>
        <c:axId val="638872703"/>
        <c:scaling>
          <c:orientation val="minMax"/>
          <c:max val="176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Model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876543"/>
        <c:crosses val="autoZero"/>
        <c:crossBetween val="midCat"/>
      </c:valAx>
      <c:valAx>
        <c:axId val="638876543"/>
        <c:scaling>
          <c:orientation val="minMax"/>
          <c:max val="489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Delta BIC (Decrease in BIC compared to top model)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8727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65D4-EC7B-5DE2-4CA7-BBBBED503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90D69-36F0-B96C-F899-05897B4C2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98BC8-4C65-4B3B-EF21-FA7C2AC7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B6A05-5A3B-5732-4D97-FC7F4ED5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BC8E7-11C8-2B82-183C-14DE3088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47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95B5-0AA5-C603-D5FF-3E3BB3DB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9951-FB9B-2A49-E9CD-DE471463A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33C57-7F9A-C9FD-53BF-151AAEDD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0B8DB-4C68-CF0F-C06E-DC072676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F5C3-7111-B03B-0D0A-9F4DBBEA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3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01805-35BB-82EA-D2F3-5F313D43D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D90B1-98BF-B3FE-6880-7C616E051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FFC0-125A-B103-074E-1B162D31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F4E9A-CDF0-4EA3-61D6-21A6A4165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D866F-ECD3-2BD8-D734-DEEF479B0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2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29634-8E05-32DF-4E3E-C563E888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2BC75-3114-5192-48A4-51B5C9BBE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28BAE-A16A-4FF3-9162-920F12177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A6400-8306-50E0-7878-25219172B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48AE1-C6D2-68F0-FBF1-4B678224A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E8161-0DD1-C835-894A-D4101630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4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A845-DA57-5D48-C2BD-C795D3F89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D6EA9-33E0-2291-2F5D-A43547A4F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7924F-2DA7-88F9-BC52-3B8F20576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3BC4C7-35C4-7A01-CA1A-610BAE51F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38F0F-79E1-A2EC-4579-D6F4C505F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4F4F7C-86C9-1D1E-926F-0C9BF19D0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E61CD-536B-FF6F-0942-C141CDAC7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DA476E-CB19-783F-5CA1-B5A948F8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21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BEEC2-DF2A-20B2-1175-B2FD8014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040F1-8772-7863-FCD0-11076BB5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15B27-54BB-89A1-F23F-C41A77DE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1EB99-9997-E1EB-446E-5B07C901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25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1F1DE-9F3B-60D9-8110-B8E45B149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A32-7FAC-BF20-00F7-0076EF28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7B54D-3E63-22E6-2715-11813C1AE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22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7522-1874-0CBF-F6D2-D440057E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93A0C-8EEB-484D-FBFD-58CCBFBB5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06D30-05EC-3394-2EC3-F2FE09DFA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CA465-8477-B445-8F8D-ED4262A1C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42E40-AAEA-BB70-8DD9-F3C9148CF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6CB50-98D6-2473-7C12-B64CF729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60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8BB1-E69A-7393-0923-2FBB9B36E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28B93-3064-BFBD-309A-D8571BD17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4DBDA-E8F3-35C3-15E3-5DBB8E97E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B7681-5AE1-E69E-7227-82BAE7598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F91A5-92CE-917D-EB5F-80E33B9D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8C72E-B06C-A274-AC01-7F8B43FF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6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D9875-667A-70E9-FDC0-19D3991C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0FC76-402A-28AC-7A72-AFCC7F757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C8783-7D52-C845-BC96-4E3CB5738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AB73C-0E88-01AC-77C8-F576F21A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1E680-7A75-B9C3-6A72-4DE1CA56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12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8CB253-4AA3-B7CB-8BE0-A98308000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10A71-965D-C875-75CC-6711270EE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196C2-8E58-A107-104A-5A921AA1C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53D15-F893-0404-0BFA-FA8418299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0CD42-AEF0-D696-41B6-9919D829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5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BE62F4-F2EE-F7E9-C145-5A5440E3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A9508-824D-C051-29F8-7CB63D670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A349D-DA54-500F-483D-5ADA20CB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4EA96-E738-40D8-80B8-99A5C4A6A40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9D365-C0E8-2F2D-3E42-741312443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15F46-A93C-8787-DF58-2E76663B7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AF45A-9C32-454F-A45A-C410528B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8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lades.nextstrain.org/?dataset-name=community/isuvdl/mazeller/prrsv2/orf5/yimim2023" TargetMode="External"/><Relationship Id="rId2" Type="http://schemas.openxmlformats.org/officeDocument/2006/relationships/hyperlink" Target="https://stemma.shinyapps.io/PRRSLo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ast.ncbi.nlm.nih.gov/Blast.cgi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fft.cbrc.jp/alignment/server/index.html" TargetMode="External"/><Relationship Id="rId2" Type="http://schemas.openxmlformats.org/officeDocument/2006/relationships/hyperlink" Target="https://github.com/PRRSV-2-Nomenclature-Consortium/International-PRRSV-2-Nomenclature-Consortiu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qtree.github.io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RSV-2-Nomenclature-Consortium/International-PRRSV-2-Nomenclature-Consortiu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lades.nextstrain.org/?dataset-name=community/isuvdl/mazeller/prrsv2/orf5/yimim2023" TargetMode="External"/><Relationship Id="rId2" Type="http://schemas.openxmlformats.org/officeDocument/2006/relationships/hyperlink" Target="https://stemma.shinyapps.io/PRRSLo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50CF-5AFE-AF25-CFAE-9631200361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Phylogenetic techniques for nomenclature acceptance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73BDE-FA6D-6496-FE70-ED9BEA947F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International PRRSV-2 Nomenclature Committee</a:t>
            </a:r>
          </a:p>
          <a:p>
            <a:r>
              <a:rPr lang="en-US" dirty="0"/>
              <a:t>2026.02.14</a:t>
            </a:r>
          </a:p>
        </p:txBody>
      </p:sp>
    </p:spTree>
    <p:extLst>
      <p:ext uri="{BB962C8B-B14F-4D97-AF65-F5344CB8AC3E}">
        <p14:creationId xmlns:p14="http://schemas.microsoft.com/office/powerpoint/2010/main" val="278641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FD3B-6871-3A57-5C4D-2FBE1933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1C42A-B2F3-273A-BCF0-0F918652B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slides aim to </a:t>
            </a:r>
          </a:p>
          <a:p>
            <a:pPr lvl="1"/>
            <a:r>
              <a:rPr lang="en-US" dirty="0"/>
              <a:t>Provide a framework for classification</a:t>
            </a:r>
          </a:p>
          <a:p>
            <a:pPr lvl="1"/>
            <a:r>
              <a:rPr lang="en-US" dirty="0"/>
              <a:t>Standardize the workflow</a:t>
            </a:r>
          </a:p>
          <a:p>
            <a:pPr lvl="1"/>
            <a:r>
              <a:rPr lang="en-US" dirty="0"/>
              <a:t>Put forward a standard criteria for acceptance of new nomenclature</a:t>
            </a:r>
          </a:p>
          <a:p>
            <a:r>
              <a:rPr lang="en-US" dirty="0"/>
              <a:t>These slides do not cover</a:t>
            </a:r>
          </a:p>
          <a:p>
            <a:pPr lvl="1"/>
            <a:r>
              <a:rPr lang="en-US" dirty="0"/>
              <a:t>Phylogenetics for genomic epidemiology</a:t>
            </a:r>
          </a:p>
          <a:p>
            <a:pPr lvl="1"/>
            <a:r>
              <a:rPr lang="en-US" dirty="0"/>
              <a:t>Advanced analytical phylogenetic i.e. </a:t>
            </a:r>
            <a:r>
              <a:rPr lang="en-US" dirty="0" err="1"/>
              <a:t>phylodynamics</a:t>
            </a:r>
            <a:r>
              <a:rPr lang="en-US" dirty="0"/>
              <a:t>/phylogeography</a:t>
            </a:r>
          </a:p>
          <a:p>
            <a:r>
              <a:rPr lang="en-US" i="1" dirty="0">
                <a:solidFill>
                  <a:srgbClr val="FF0000"/>
                </a:solidFill>
              </a:rPr>
              <a:t>The information in these slides will be further refined in the future by the white paper put forward by the IPNC</a:t>
            </a:r>
          </a:p>
        </p:txBody>
      </p:sp>
    </p:spTree>
    <p:extLst>
      <p:ext uri="{BB962C8B-B14F-4D97-AF65-F5344CB8AC3E}">
        <p14:creationId xmlns:p14="http://schemas.microsoft.com/office/powerpoint/2010/main" val="83244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5EA48-ECC8-2005-C117-ECECF64F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79DBA-FDC6-051A-418F-37C496CB1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slides will walk through the process of assessing if a set of sequences forms a unique lineage/</a:t>
            </a:r>
            <a:r>
              <a:rPr lang="en-US" dirty="0" err="1"/>
              <a:t>sublineage</a:t>
            </a:r>
            <a:r>
              <a:rPr lang="en-US" dirty="0"/>
              <a:t>. These steps include: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Curation and quality control of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Alignment and reference set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Phylogenetic reconstruction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Checking for recombination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Assessing Relevance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6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D026-0F63-301C-8384-6B3A0833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 Is your sequence quality good?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0755E-8DA3-CE89-FDD6-3ACE984E4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your sequences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Is the complete open reading frame 5 present?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Are the 5’ and 3’ ends trimmed?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Is the coding region divisible by 3?</a:t>
            </a:r>
          </a:p>
          <a:p>
            <a:pPr marL="457200" lvl="1" indent="0">
              <a:buNone/>
            </a:pPr>
            <a:r>
              <a:rPr lang="en-US" dirty="0"/>
              <a:t>If any of the above are missing, reanalysis or resequencing may be needed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Is the length 603 </a:t>
            </a:r>
            <a:r>
              <a:rPr lang="en-US" dirty="0" err="1"/>
              <a:t>nt</a:t>
            </a:r>
            <a:r>
              <a:rPr lang="en-US" dirty="0"/>
              <a:t>, or are their insertions/deletions?</a:t>
            </a:r>
          </a:p>
          <a:p>
            <a:pPr marL="457200" lvl="1" indent="0">
              <a:buNone/>
            </a:pPr>
            <a:r>
              <a:rPr lang="en-US" dirty="0"/>
              <a:t>This may be either a unique feature or a mistake, proceed with caution</a:t>
            </a:r>
          </a:p>
        </p:txBody>
      </p:sp>
    </p:spTree>
    <p:extLst>
      <p:ext uri="{BB962C8B-B14F-4D97-AF65-F5344CB8AC3E}">
        <p14:creationId xmlns:p14="http://schemas.microsoft.com/office/powerpoint/2010/main" val="3011699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27B1-2AC6-0579-703D-BE25AFCE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Are your samples unique?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0967A-DCBA-3615-46B5-922CF8B14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classify them well on current tools?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PRRSLoom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https://stemma.shinyapps.io/PRRSLoom/</a:t>
            </a:r>
            <a:r>
              <a:rPr lang="en-US" dirty="0"/>
              <a:t>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Nextclade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https://clades.nextstrain.org/?dataset-name=community/isuvdl/mazeller/prrsv2/orf5/yimim2023</a:t>
            </a:r>
            <a:r>
              <a:rPr lang="en-US" dirty="0"/>
              <a:t>)  - where not red/flagged for private mutations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NCBI BLAST (</a:t>
            </a:r>
            <a:r>
              <a:rPr lang="en-US" dirty="0">
                <a:hlinkClick r:id="rId4"/>
              </a:rPr>
              <a:t>https://blast.ncbi.nlm.nih.gov/Blast.cgi</a:t>
            </a:r>
            <a:r>
              <a:rPr lang="en-US" dirty="0"/>
              <a:t>) where no hit is &gt; 94% similar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If there are sequences &gt;95% similar, how are those classified on </a:t>
            </a:r>
            <a:r>
              <a:rPr lang="en-US" dirty="0" err="1"/>
              <a:t>PRRSLoom</a:t>
            </a:r>
            <a:r>
              <a:rPr lang="en-US" dirty="0"/>
              <a:t> and </a:t>
            </a:r>
            <a:r>
              <a:rPr lang="en-US" dirty="0" err="1"/>
              <a:t>Nextclade</a:t>
            </a:r>
            <a:r>
              <a:rPr lang="en-US" dirty="0"/>
              <a:t> (they also may be poorly classified)</a:t>
            </a:r>
          </a:p>
          <a:p>
            <a:pPr marL="457200" lvl="1" indent="0">
              <a:buNone/>
            </a:pPr>
            <a:r>
              <a:rPr lang="en-US" dirty="0"/>
              <a:t>If they are able to be assigned with the current classification tools or on prior data, they may already be represented in the current nomenclature</a:t>
            </a:r>
          </a:p>
        </p:txBody>
      </p:sp>
    </p:spTree>
    <p:extLst>
      <p:ext uri="{BB962C8B-B14F-4D97-AF65-F5344CB8AC3E}">
        <p14:creationId xmlns:p14="http://schemas.microsoft.com/office/powerpoint/2010/main" val="255473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B4A47-3CE3-533B-D907-4732DE367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Did you use a good reference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28DB0-C815-156D-5EEB-951AD8140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The IPNC will maintain and update a reference set to aid in these studies</a:t>
            </a:r>
          </a:p>
          <a:p>
            <a:pPr lvl="1"/>
            <a:r>
              <a:rPr lang="en-US" i="1" dirty="0"/>
              <a:t>The foundation of this dataset is Yim-</a:t>
            </a:r>
            <a:r>
              <a:rPr lang="en-US" i="1" dirty="0" err="1"/>
              <a:t>im</a:t>
            </a:r>
            <a:r>
              <a:rPr lang="en-US" i="1" dirty="0"/>
              <a:t> et. al, 2023. This dataset will be updated as new information is presented (i.e. L1K, L1L, L12).</a:t>
            </a:r>
          </a:p>
          <a:p>
            <a:pPr lvl="1"/>
            <a:endParaRPr lang="en-US" dirty="0"/>
          </a:p>
          <a:p>
            <a:r>
              <a:rPr lang="en-US" dirty="0"/>
              <a:t>When making an alignment, you should use at least a minimal reference set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Are all contemporary and recent historical PRRSV-2 </a:t>
            </a:r>
            <a:r>
              <a:rPr lang="en-US" dirty="0" err="1"/>
              <a:t>sublineages</a:t>
            </a:r>
            <a:r>
              <a:rPr lang="en-US" dirty="0"/>
              <a:t> included in the reference set?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Are each lineage represented by more than 15 sequences?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Is reasonable diversity of that lineage sampled?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Is the reference set less than 2 years old?</a:t>
            </a:r>
          </a:p>
          <a:p>
            <a:pPr marL="457200" lvl="1" indent="0">
              <a:buNone/>
            </a:pPr>
            <a:r>
              <a:rPr lang="en-US" dirty="0"/>
              <a:t>If the above is not met, you may need to consider updating your reference set to accurately characterize the diversity of PRRSV-2</a:t>
            </a:r>
          </a:p>
        </p:txBody>
      </p:sp>
    </p:spTree>
    <p:extLst>
      <p:ext uri="{BB962C8B-B14F-4D97-AF65-F5344CB8AC3E}">
        <p14:creationId xmlns:p14="http://schemas.microsoft.com/office/powerpoint/2010/main" val="398633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6891-5A52-6168-847E-E594C5442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 Do your sequences align well?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D4983-8BF9-5F71-02A0-033161627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your sequences with the IPNC reference set </a:t>
            </a:r>
          </a:p>
          <a:p>
            <a:pPr lvl="1"/>
            <a:r>
              <a:rPr lang="en-US" dirty="0"/>
              <a:t>(available at </a:t>
            </a:r>
            <a:r>
              <a:rPr lang="en-US" dirty="0">
                <a:hlinkClick r:id="rId2"/>
              </a:rPr>
              <a:t>https://github.com/PRRSV-2-Nomenclature-Consortium/International-PRRSV-2-Nomenclature-Consortium/</a:t>
            </a:r>
            <a:r>
              <a:rPr lang="en-US" dirty="0"/>
              <a:t>)</a:t>
            </a:r>
          </a:p>
          <a:p>
            <a:r>
              <a:rPr lang="en-US" dirty="0"/>
              <a:t>MAFFT is a common and reliable tool for alignments (</a:t>
            </a:r>
            <a:r>
              <a:rPr lang="en-US" dirty="0">
                <a:hlinkClick r:id="rId3"/>
              </a:rPr>
              <a:t>https://mafft.cbrc.jp/alignment/server/index.html</a:t>
            </a:r>
            <a:r>
              <a:rPr lang="en-US" dirty="0"/>
              <a:t>)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Did you include representation from all other PRRSV-2 </a:t>
            </a:r>
            <a:r>
              <a:rPr lang="en-US" dirty="0" err="1"/>
              <a:t>sublineages</a:t>
            </a:r>
            <a:r>
              <a:rPr lang="en-US" dirty="0"/>
              <a:t>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Do you have unusual insertions/deletions in your alignment?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If so, are they clustered in groups divisible by 3?</a:t>
            </a:r>
          </a:p>
          <a:p>
            <a:pPr marL="457200" lvl="1" indent="0">
              <a:buNone/>
            </a:pPr>
            <a:r>
              <a:rPr lang="en-US" dirty="0"/>
              <a:t>PRRSV-2 ORF5 typically aligns very well with minimal gaps. If you find multiple gaps that are not clearly amino acid insertions/deletions, you may need to reassess your sequencing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08506-DFEB-86D2-1DF9-D805A46780A7}"/>
              </a:ext>
            </a:extLst>
          </p:cNvPr>
          <p:cNvSpPr txBox="1"/>
          <p:nvPr/>
        </p:nvSpPr>
        <p:spPr>
          <a:xfrm>
            <a:off x="1710817" y="6169709"/>
            <a:ext cx="6878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Lucida Console" panose="020B0609040504020204" pitchFamily="49" charset="0"/>
              </a:rPr>
              <a:t>mafft</a:t>
            </a:r>
            <a:r>
              <a:rPr lang="en-US" dirty="0">
                <a:latin typeface="Lucida Console" panose="020B0609040504020204" pitchFamily="49" charset="0"/>
              </a:rPr>
              <a:t> --auto [</a:t>
            </a:r>
            <a:r>
              <a:rPr lang="en-US" dirty="0" err="1">
                <a:latin typeface="Lucida Console" panose="020B0609040504020204" pitchFamily="49" charset="0"/>
              </a:rPr>
              <a:t>unaligned.fasta</a:t>
            </a:r>
            <a:r>
              <a:rPr lang="en-US" dirty="0">
                <a:latin typeface="Lucida Console" panose="020B0609040504020204" pitchFamily="49" charset="0"/>
              </a:rPr>
              <a:t>] &gt; [</a:t>
            </a:r>
            <a:r>
              <a:rPr lang="en-US" dirty="0" err="1">
                <a:latin typeface="Lucida Console" panose="020B0609040504020204" pitchFamily="49" charset="0"/>
              </a:rPr>
              <a:t>aligned.fasta</a:t>
            </a:r>
            <a:r>
              <a:rPr lang="en-US" dirty="0">
                <a:latin typeface="Lucida Console" panose="020B0609040504020204" pitchFamily="49" charset="0"/>
              </a:rPr>
              <a:t>]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5BFFD-06A2-1F8F-9237-9CAA8F59EE76}"/>
              </a:ext>
            </a:extLst>
          </p:cNvPr>
          <p:cNvSpPr txBox="1"/>
          <p:nvPr/>
        </p:nvSpPr>
        <p:spPr>
          <a:xfrm>
            <a:off x="8589623" y="6169708"/>
            <a:ext cx="1997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(recommended)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391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F7E0-6E2B-8589-B9A4-308DCF2C7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2.3. Assessing distance to known sub-lineages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491CF-71D0-D297-9D4E-966525CC0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genetic distance or homology to other sub-lineages. 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If this is a new sub-lineage or lineage, is there 8-11% difference to nearest lineage?</a:t>
            </a:r>
          </a:p>
          <a:p>
            <a:r>
              <a:rPr lang="en-US" dirty="0"/>
              <a:t>Report average and Interquartile Range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Report this in a table format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89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FA6D-9AF9-EA51-435B-69A8B57E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Constructing a phylogenetic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40449-AC04-B897-5C64-2C93704D2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IQ-TREE V2 or V3 (</a:t>
            </a:r>
            <a:r>
              <a:rPr lang="en-US" dirty="0">
                <a:hlinkClick r:id="rId2"/>
              </a:rPr>
              <a:t>https://iqtree.github.io/</a:t>
            </a:r>
            <a:r>
              <a:rPr lang="en-US" dirty="0"/>
              <a:t>) is a robust and standard maximum-likelihood tool well adapted to this task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Did you construct a maximum-likelihood tree?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Did you use at least 1,000 bootstraps?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Ultrafast bootstraps are suitable and the suggested default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Did you use an appropriate base model (TIM2+e/TIM3+e/GTR)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Are the bootstraps viewable with 3</a:t>
            </a:r>
            <a:r>
              <a:rPr lang="en-US" baseline="30000" dirty="0"/>
              <a:t>rd</a:t>
            </a:r>
            <a:r>
              <a:rPr lang="en-US" dirty="0"/>
              <a:t> party programs like </a:t>
            </a:r>
            <a:r>
              <a:rPr lang="en-US" dirty="0" err="1"/>
              <a:t>FigTree</a:t>
            </a:r>
            <a:r>
              <a:rPr lang="en-US" dirty="0"/>
              <a:t> or </a:t>
            </a:r>
            <a:r>
              <a:rPr lang="en-US" dirty="0" err="1"/>
              <a:t>ggtree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r>
              <a:rPr lang="en-US" dirty="0"/>
              <a:t>If your tree building step does not match these standard, it may not be considered robust for designating a new lineage/</a:t>
            </a:r>
            <a:r>
              <a:rPr lang="en-US" dirty="0" err="1"/>
              <a:t>sublineage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4CB7F-37C9-BEB1-ECC2-C88D1E234535}"/>
              </a:ext>
            </a:extLst>
          </p:cNvPr>
          <p:cNvSpPr txBox="1"/>
          <p:nvPr/>
        </p:nvSpPr>
        <p:spPr>
          <a:xfrm>
            <a:off x="838200" y="5665569"/>
            <a:ext cx="6739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Lucida Console" panose="020B0609040504020204" pitchFamily="49" charset="0"/>
              </a:rPr>
              <a:t>iqtree</a:t>
            </a:r>
            <a:r>
              <a:rPr lang="en-US" dirty="0">
                <a:latin typeface="Lucida Console" panose="020B0609040504020204" pitchFamily="49" charset="0"/>
              </a:rPr>
              <a:t> –s [</a:t>
            </a:r>
            <a:r>
              <a:rPr lang="en-US" dirty="0" err="1">
                <a:latin typeface="Lucida Console" panose="020B0609040504020204" pitchFamily="49" charset="0"/>
              </a:rPr>
              <a:t>alignment.fasta</a:t>
            </a:r>
            <a:r>
              <a:rPr lang="en-US" dirty="0">
                <a:latin typeface="Lucida Console" panose="020B0609040504020204" pitchFamily="49" charset="0"/>
              </a:rPr>
              <a:t>] –m GTR+F+R4 –B 1000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8BFCA-BA18-8CA2-4461-FF2C01D4C732}"/>
              </a:ext>
            </a:extLst>
          </p:cNvPr>
          <p:cNvSpPr txBox="1"/>
          <p:nvPr/>
        </p:nvSpPr>
        <p:spPr>
          <a:xfrm>
            <a:off x="7577545" y="5665568"/>
            <a:ext cx="1997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(recommended)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383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B6DEE-4D1C-81E3-BAD5-83CC16DD6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Assessing your phylogenetics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F41B2-8A69-4C93-36E0-3E268A3E7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assess if you have a new nomenclature, when viewing your tree via </a:t>
            </a:r>
            <a:r>
              <a:rPr lang="en-US" dirty="0" err="1"/>
              <a:t>FigTree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Are your sequences forming a monophyletic group?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Is the bootstrap support of ancestral node &gt;70?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Are the bootstrap supports for other known lineages substantially high (indicating a robust tree)?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Is there good division of the new clade from recognized sub-lineages in terms of average branch length?</a:t>
            </a:r>
          </a:p>
          <a:p>
            <a:pPr marL="457200" lvl="1" indent="0">
              <a:buNone/>
            </a:pPr>
            <a:r>
              <a:rPr lang="en-US" dirty="0"/>
              <a:t>If all these conditions are met, there is likely strong evidence of a new lineage or </a:t>
            </a:r>
            <a:r>
              <a:rPr lang="en-US" dirty="0" err="1"/>
              <a:t>sublineage</a:t>
            </a:r>
            <a:r>
              <a:rPr lang="en-US" dirty="0"/>
              <a:t>.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endParaRPr lang="en-US" dirty="0">
              <a:highlight>
                <a:srgbClr val="FFFF00"/>
              </a:highlight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549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4AD96-42EB-93D3-BBB7-02F3F446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Recombination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B0F84-5CD9-266C-F049-D74AD4237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this clade emerge from apparent recombination between viruses belonging to other lineages?</a:t>
            </a:r>
          </a:p>
          <a:p>
            <a:r>
              <a:rPr lang="en-US" dirty="0"/>
              <a:t>Recombination breakpoints are rarely inside of ORF5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Recombination analysis should be performed using RDP4, RDP5, or other modern program, and tested against the provided reference set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Recombination events should have high confidence to avoid false positive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Supported by more than 80% of the RDP4/5 methods and </a:t>
            </a:r>
            <a:r>
              <a:rPr lang="en-US" dirty="0" err="1"/>
              <a:t>Shimodaira</a:t>
            </a:r>
            <a:r>
              <a:rPr lang="en-US" dirty="0"/>
              <a:t>-Hasegawa statistical </a:t>
            </a:r>
            <a:r>
              <a:rPr lang="en-US" dirty="0" err="1"/>
              <a:t>signifigance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If so, then nearly all sequences within the clade would share the same recombination profile</a:t>
            </a:r>
          </a:p>
        </p:txBody>
      </p:sp>
    </p:spTree>
    <p:extLst>
      <p:ext uri="{BB962C8B-B14F-4D97-AF65-F5344CB8AC3E}">
        <p14:creationId xmlns:p14="http://schemas.microsoft.com/office/powerpoint/2010/main" val="3340254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7774-3B18-B527-61FC-AD4BE905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Assessing 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1225C-75E1-9C4F-9597-7812A26AA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The international nomenclature focuses on lineages with demonstrated epidemiological relevance and broader geographic circulation.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Are the new sequences found in numerous farms from different locations?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Are they found in multiple regions of the country?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If only found in one region/production system, how representative of the country’s swine industry is the region/production system?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Do these sequences represent a substantial percentage of sequences from the country?</a:t>
            </a:r>
          </a:p>
          <a:p>
            <a:pPr marL="457200" lvl="1" indent="0">
              <a:buNone/>
            </a:pPr>
            <a:r>
              <a:rPr lang="en-US" dirty="0"/>
              <a:t>Viruses with limited or localized transmission might not warrant a naming designation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7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4162-3595-0FCB-FD57-1ECC8F09B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CHECKLIST AND FORMAT OF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F5A1E-1257-6F55-B39E-D14603F0B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Template available online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hlinkClick r:id="rId2"/>
              </a:rPr>
              <a:t>https://github.com/PRRSV-2-Nomenclature-Consortium/International-PRRSV-2-Nomenclature-Consortium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Fill in all sections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Refer to previous proposals if needed</a:t>
            </a:r>
          </a:p>
        </p:txBody>
      </p:sp>
    </p:spTree>
    <p:extLst>
      <p:ext uri="{BB962C8B-B14F-4D97-AF65-F5344CB8AC3E}">
        <p14:creationId xmlns:p14="http://schemas.microsoft.com/office/powerpoint/2010/main" val="1218354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6F3D-71C0-B5C4-6D18-FA7B2D4E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Steering committee 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462F2-ED20-75D1-7294-1B89A905F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need additional help, consider reaching out</a:t>
            </a:r>
          </a:p>
          <a:p>
            <a:r>
              <a:rPr lang="en-US" dirty="0"/>
              <a:t>Kim VanderWaal - </a:t>
            </a:r>
            <a:r>
              <a:rPr lang="nl-NL" dirty="0"/>
              <a:t>kvw@umn.edu</a:t>
            </a:r>
            <a:endParaRPr lang="en-US" dirty="0"/>
          </a:p>
          <a:p>
            <a:r>
              <a:rPr lang="en-US" dirty="0"/>
              <a:t>Tavis Anderson - tavis.anderson@usda.gov</a:t>
            </a:r>
          </a:p>
          <a:p>
            <a:r>
              <a:rPr lang="en-US" dirty="0"/>
              <a:t>Mariana Kikuti - </a:t>
            </a:r>
            <a:r>
              <a:rPr lang="fi-FI" dirty="0"/>
              <a:t>mkikuti@umn.edu</a:t>
            </a:r>
            <a:endParaRPr lang="en-US" dirty="0"/>
          </a:p>
          <a:p>
            <a:r>
              <a:rPr lang="en-US" dirty="0"/>
              <a:t>Jianqiang Zhang - jqzhang@iastate.edu</a:t>
            </a:r>
          </a:p>
          <a:p>
            <a:r>
              <a:rPr lang="en-US" dirty="0"/>
              <a:t>Michael Zeller – mazeller@iastate.edu</a:t>
            </a:r>
          </a:p>
        </p:txBody>
      </p:sp>
    </p:spTree>
    <p:extLst>
      <p:ext uri="{BB962C8B-B14F-4D97-AF65-F5344CB8AC3E}">
        <p14:creationId xmlns:p14="http://schemas.microsoft.com/office/powerpoint/2010/main" val="2883586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3675-1715-EF7B-2DD6-CFA278558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Auxiliary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0F580-1B7B-1661-C5E2-7376A55DD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proceeding slides provide additional information as a reference for nuanced data assessment</a:t>
            </a:r>
          </a:p>
        </p:txBody>
      </p:sp>
    </p:spTree>
    <p:extLst>
      <p:ext uri="{BB962C8B-B14F-4D97-AF65-F5344CB8AC3E}">
        <p14:creationId xmlns:p14="http://schemas.microsoft.com/office/powerpoint/2010/main" val="3072027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37BE-6B0E-552C-280C-236A0520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Criteria for establishing nomenclature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080A5-4C6F-6504-6937-5D7363B02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Alignments should be conducted with MAFFT or a Needleman-Wunsch algorithm</a:t>
            </a:r>
          </a:p>
          <a:p>
            <a:pPr lvl="1"/>
            <a:r>
              <a:rPr lang="en-US" dirty="0"/>
              <a:t>MAFFT will produce worse scores than NW, but NW will find a true optima</a:t>
            </a:r>
          </a:p>
          <a:p>
            <a:r>
              <a:rPr lang="en-US" dirty="0"/>
              <a:t>For nomenclature consideration, sequences must be trimmed to the ORF5. </a:t>
            </a:r>
          </a:p>
          <a:p>
            <a:pPr lvl="1"/>
            <a:r>
              <a:rPr lang="en-US" dirty="0"/>
              <a:t>Sequences should be complete, from methionine to stop codon</a:t>
            </a:r>
          </a:p>
        </p:txBody>
      </p:sp>
    </p:spTree>
    <p:extLst>
      <p:ext uri="{BB962C8B-B14F-4D97-AF65-F5344CB8AC3E}">
        <p14:creationId xmlns:p14="http://schemas.microsoft.com/office/powerpoint/2010/main" val="897816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1BA9-1116-E011-0C42-73FA933A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Acceptable tree building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69165-E641-F225-9D61-FED9B74E1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Trees should be built using either </a:t>
            </a:r>
          </a:p>
          <a:p>
            <a:pPr lvl="1"/>
            <a:r>
              <a:rPr lang="en-US" dirty="0"/>
              <a:t>Maximum-likelihood phylogenetics</a:t>
            </a:r>
          </a:p>
          <a:p>
            <a:pPr lvl="2"/>
            <a:r>
              <a:rPr lang="en-US" dirty="0" err="1"/>
              <a:t>IQTree</a:t>
            </a:r>
            <a:r>
              <a:rPr lang="en-US" dirty="0"/>
              <a:t> (v2/v3) (</a:t>
            </a:r>
            <a:r>
              <a:rPr lang="en-US" i="1" dirty="0"/>
              <a:t>preferred)</a:t>
            </a:r>
          </a:p>
          <a:p>
            <a:pPr lvl="2"/>
            <a:r>
              <a:rPr lang="en-US" dirty="0" err="1"/>
              <a:t>RAxML</a:t>
            </a:r>
            <a:endParaRPr lang="en-US" dirty="0"/>
          </a:p>
          <a:p>
            <a:pPr lvl="2"/>
            <a:r>
              <a:rPr lang="en-US" dirty="0" err="1"/>
              <a:t>RAxML</a:t>
            </a:r>
            <a:r>
              <a:rPr lang="en-US" dirty="0"/>
              <a:t>-ng</a:t>
            </a:r>
          </a:p>
          <a:p>
            <a:pPr lvl="1"/>
            <a:r>
              <a:rPr lang="en-US" dirty="0"/>
              <a:t>Bayesian phylogenetics</a:t>
            </a:r>
          </a:p>
          <a:p>
            <a:pPr lvl="2"/>
            <a:r>
              <a:rPr lang="en-US" dirty="0" err="1"/>
              <a:t>Mr.Bayes</a:t>
            </a:r>
            <a:endParaRPr lang="en-US" dirty="0"/>
          </a:p>
          <a:p>
            <a:pPr lvl="2"/>
            <a:r>
              <a:rPr lang="en-US" dirty="0"/>
              <a:t>BEAST</a:t>
            </a:r>
          </a:p>
          <a:p>
            <a:r>
              <a:rPr lang="en-US" dirty="0"/>
              <a:t>Compared to a minimal reference set</a:t>
            </a:r>
          </a:p>
          <a:p>
            <a:pPr lvl="1"/>
            <a:r>
              <a:rPr lang="en-US" dirty="0"/>
              <a:t>These reference sets should include adequate diversity of all contemporary </a:t>
            </a:r>
            <a:r>
              <a:rPr lang="en-US" dirty="0" err="1"/>
              <a:t>sublineages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43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252AA-2690-B1F9-6183-35FAE5FD0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Criteria for establishing nomenclature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0182B-BF84-4DB4-1F23-3CF39DF26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Classification in current webtools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/>
              <a:t>Undetermined classification further supports possible new lineage</a:t>
            </a:r>
          </a:p>
          <a:p>
            <a:pPr marL="1428750" lvl="2" indent="-514350">
              <a:buFont typeface="Arial" panose="020B0604020202020204" pitchFamily="34" charset="0"/>
              <a:buAutoNum type="arabicPeriod"/>
            </a:pPr>
            <a:r>
              <a:rPr lang="en-US" dirty="0" err="1"/>
              <a:t>PRRSLoom</a:t>
            </a:r>
            <a:r>
              <a:rPr lang="en-US" dirty="0"/>
              <a:t> - </a:t>
            </a:r>
            <a:r>
              <a:rPr lang="en-US" dirty="0">
                <a:hlinkClick r:id="rId2"/>
              </a:rPr>
              <a:t>https://stemma.shinyapps.io/PRRSLoom/</a:t>
            </a:r>
            <a:endParaRPr lang="en-US" dirty="0"/>
          </a:p>
          <a:p>
            <a:pPr marL="1428750" lvl="2" indent="-514350">
              <a:buFont typeface="Arial" panose="020B0604020202020204" pitchFamily="34" charset="0"/>
              <a:buAutoNum type="arabicPeriod"/>
            </a:pPr>
            <a:r>
              <a:rPr lang="en-US" dirty="0" err="1"/>
              <a:t>Nextclade</a:t>
            </a:r>
            <a:r>
              <a:rPr lang="en-US" dirty="0"/>
              <a:t> - </a:t>
            </a:r>
            <a:r>
              <a:rPr lang="en-US" dirty="0">
                <a:hlinkClick r:id="rId3"/>
              </a:rPr>
              <a:t>https://clades.nextstrain.org/?dataset-name=community/isuvdl/mazeller/prrsv2/orf5/yimim2023</a:t>
            </a: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Phylogenetic tree (maximum-likelihood)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/>
              <a:t>Bootstrap support of ancestral node</a:t>
            </a:r>
          </a:p>
          <a:p>
            <a:pPr marL="1428750" lvl="2" indent="-514350">
              <a:buFont typeface="Arial" panose="020B0604020202020204" pitchFamily="34" charset="0"/>
              <a:buAutoNum type="arabicPeriod"/>
            </a:pPr>
            <a:r>
              <a:rPr lang="en-US" dirty="0"/>
              <a:t>Bootstrap support of ancestral node should be &gt;70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/>
              <a:t>Relation to existing sub-lineages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Genetic distances of new clade from recognized sub-lineages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/>
              <a:t>On average expecting 11% difference between lineages</a:t>
            </a:r>
          </a:p>
        </p:txBody>
      </p:sp>
    </p:spTree>
    <p:extLst>
      <p:ext uri="{BB962C8B-B14F-4D97-AF65-F5344CB8AC3E}">
        <p14:creationId xmlns:p14="http://schemas.microsoft.com/office/powerpoint/2010/main" val="2980020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138347-19BD-5C9C-17B5-112AD279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Methods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AED2B-1821-E3BD-78AF-0F8D51C23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11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E138C-9950-E32C-538C-D4AB2C3E0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IQ-Tree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B72BA-CFF0-9EB5-4943-8A6DFCEEC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4832"/>
            <a:ext cx="5514975" cy="386213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At minimum, </a:t>
            </a:r>
            <a:r>
              <a:rPr lang="en-US" u="sng" dirty="0"/>
              <a:t>use 1000 bootstraps</a:t>
            </a:r>
          </a:p>
          <a:p>
            <a:r>
              <a:rPr lang="en-US" dirty="0"/>
              <a:t>Base models that are useful</a:t>
            </a:r>
          </a:p>
          <a:p>
            <a:pPr lvl="1"/>
            <a:r>
              <a:rPr lang="en-US" dirty="0"/>
              <a:t>GTR</a:t>
            </a:r>
          </a:p>
          <a:p>
            <a:pPr lvl="1"/>
            <a:r>
              <a:rPr lang="en-US" dirty="0"/>
              <a:t>TIM2/TIM3</a:t>
            </a:r>
          </a:p>
          <a:p>
            <a:pPr lvl="1"/>
            <a:r>
              <a:rPr lang="en-US" dirty="0"/>
              <a:t>SYM</a:t>
            </a:r>
          </a:p>
          <a:p>
            <a:r>
              <a:rPr lang="en-US" dirty="0"/>
              <a:t>Base frequences (optional)</a:t>
            </a:r>
          </a:p>
          <a:p>
            <a:pPr lvl="1"/>
            <a:r>
              <a:rPr lang="en-US" dirty="0"/>
              <a:t>+F (empirical)</a:t>
            </a:r>
          </a:p>
          <a:p>
            <a:r>
              <a:rPr lang="en-US" dirty="0"/>
              <a:t>Invariance (optional)</a:t>
            </a:r>
          </a:p>
          <a:p>
            <a:pPr lvl="1"/>
            <a:r>
              <a:rPr lang="en-US" dirty="0"/>
              <a:t>Valid, useful for estimating invariant sites</a:t>
            </a:r>
          </a:p>
          <a:p>
            <a:r>
              <a:rPr lang="en-US" dirty="0"/>
              <a:t>Rate models (optional)</a:t>
            </a:r>
          </a:p>
          <a:p>
            <a:pPr lvl="1"/>
            <a:r>
              <a:rPr lang="en-US" dirty="0"/>
              <a:t>+G4 or +R4 is okay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99E73-B00A-2627-2FD4-189C495184E1}"/>
              </a:ext>
            </a:extLst>
          </p:cNvPr>
          <p:cNvSpPr txBox="1"/>
          <p:nvPr/>
        </p:nvSpPr>
        <p:spPr>
          <a:xfrm>
            <a:off x="838200" y="1569134"/>
            <a:ext cx="6739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Lucida Console" panose="020B0609040504020204" pitchFamily="49" charset="0"/>
              </a:rPr>
              <a:t>iqtree</a:t>
            </a:r>
            <a:r>
              <a:rPr lang="en-US" dirty="0">
                <a:latin typeface="Lucida Console" panose="020B0609040504020204" pitchFamily="49" charset="0"/>
              </a:rPr>
              <a:t> –s [</a:t>
            </a:r>
            <a:r>
              <a:rPr lang="en-US" dirty="0" err="1">
                <a:latin typeface="Lucida Console" panose="020B0609040504020204" pitchFamily="49" charset="0"/>
              </a:rPr>
              <a:t>alignment.fasta</a:t>
            </a:r>
            <a:r>
              <a:rPr lang="en-US" dirty="0">
                <a:latin typeface="Lucida Console" panose="020B0609040504020204" pitchFamily="49" charset="0"/>
              </a:rPr>
              <a:t>] –m GTR+F+R4 –B 1000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262BE1-3789-985D-BEDC-1AAE88B6FCE4}"/>
              </a:ext>
            </a:extLst>
          </p:cNvPr>
          <p:cNvSpPr txBox="1">
            <a:spLocks/>
          </p:cNvSpPr>
          <p:nvPr/>
        </p:nvSpPr>
        <p:spPr>
          <a:xfrm>
            <a:off x="6353175" y="2314832"/>
            <a:ext cx="5514975" cy="3862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Wide array of models are functional and produce similar results</a:t>
            </a:r>
          </a:p>
          <a:p>
            <a:pPr lvl="1"/>
            <a:r>
              <a:rPr lang="en-US" dirty="0"/>
              <a:t>Avoid JC and F81, models that fail to capture transition/transversion well perform poorly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87D8C-200D-B49F-A3BE-BB88E4250289}"/>
              </a:ext>
            </a:extLst>
          </p:cNvPr>
          <p:cNvSpPr txBox="1"/>
          <p:nvPr/>
        </p:nvSpPr>
        <p:spPr>
          <a:xfrm>
            <a:off x="7757705" y="1531291"/>
            <a:ext cx="1997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(recommended)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251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EBC4C-D36D-40ED-14AE-7A5289B1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IQ-Tree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DA95-52F0-6ABB-A03E-6D527093D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573"/>
            <a:ext cx="10515600" cy="4702390"/>
          </a:xfrm>
        </p:spPr>
        <p:txBody>
          <a:bodyPr/>
          <a:lstStyle/>
          <a:p>
            <a:r>
              <a:rPr lang="en-US" dirty="0"/>
              <a:t>High ranking models produce similar tree topologies/branch support,  using </a:t>
            </a:r>
            <a:r>
              <a:rPr lang="en-US" dirty="0" err="1"/>
              <a:t>ModelFinder</a:t>
            </a:r>
            <a:r>
              <a:rPr lang="en-US" dirty="0"/>
              <a:t> Plus</a:t>
            </a:r>
          </a:p>
          <a:p>
            <a:r>
              <a:rPr lang="en-US" dirty="0"/>
              <a:t>PRRSV is an RNA virus, and can typically fit high parameter models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AC6E41B-CB8E-7116-AF35-66633D0E1E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5798787"/>
              </p:ext>
            </p:extLst>
          </p:nvPr>
        </p:nvGraphicFramePr>
        <p:xfrm>
          <a:off x="5972432" y="3382694"/>
          <a:ext cx="5788112" cy="3475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F196575A-B344-35EC-DB67-C69F2B2740BF}"/>
              </a:ext>
            </a:extLst>
          </p:cNvPr>
          <p:cNvSpPr txBox="1"/>
          <p:nvPr/>
        </p:nvSpPr>
        <p:spPr>
          <a:xfrm>
            <a:off x="10073410" y="5684521"/>
            <a:ext cx="481085" cy="246221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solidFill>
                  <a:srgbClr val="FF0000"/>
                </a:solidFill>
              </a:rPr>
              <a:t>+F+I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7DD2655-8BE1-428C-968F-A1B83D028F38}"/>
              </a:ext>
            </a:extLst>
          </p:cNvPr>
          <p:cNvSpPr txBox="1"/>
          <p:nvPr/>
        </p:nvSpPr>
        <p:spPr>
          <a:xfrm>
            <a:off x="9614580" y="5930742"/>
            <a:ext cx="458830" cy="246221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>
                <a:solidFill>
                  <a:srgbClr val="FF0000"/>
                </a:solidFill>
              </a:rPr>
              <a:t>+R2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D8365DC-54F0-4281-9111-CE89870C0091}"/>
              </a:ext>
            </a:extLst>
          </p:cNvPr>
          <p:cNvSpPr txBox="1"/>
          <p:nvPr/>
        </p:nvSpPr>
        <p:spPr>
          <a:xfrm>
            <a:off x="10393567" y="4409833"/>
            <a:ext cx="1163605" cy="4001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solidFill>
                  <a:srgbClr val="FF0000"/>
                </a:solidFill>
              </a:rPr>
              <a:t>Poor fit</a:t>
            </a:r>
            <a:r>
              <a:rPr lang="en-US" sz="1000" b="1" baseline="0" dirty="0">
                <a:solidFill>
                  <a:srgbClr val="FF0000"/>
                </a:solidFill>
              </a:rPr>
              <a:t> models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(JC/F81)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07D030-BD32-84A4-BAC7-DA847CF1C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757561"/>
              </p:ext>
            </p:extLst>
          </p:nvPr>
        </p:nvGraphicFramePr>
        <p:xfrm>
          <a:off x="279400" y="3746670"/>
          <a:ext cx="5816600" cy="3048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03540737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4481957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57616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111383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527289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411919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364795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6771763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0979004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AICc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BIC diff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7311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SYM+R4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11088.16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22968.31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24423.98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3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24717.98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8758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TIM3e+R4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11096.45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22980.89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24408.69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C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24721.73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8BF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4155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TIM2e+R4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11096.59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22981.18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24408.98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C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24722.01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8BF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2214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TNe+R4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11102.59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22991.18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24405.26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7C3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24727.6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1C2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9067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11100.18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22988.36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24416.15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8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24729.19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C2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7277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TVMe+R4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11097.14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22984.28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24425.94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6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24729.53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4C2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7974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SYM+R5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11088.08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22972.15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24456.28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24730.66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12.678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8298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TIM3e+R5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11096.41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22984.81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24440.48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24734.49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16.501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5423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TIM2e+R5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11096.55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22985.09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24440.76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D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24734.76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871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TPM2u+F+R4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11096.75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22985.5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24441.16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D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24735.17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C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9901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TPM2+F+R4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11096.91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22985.81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24441.48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ED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24735.48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C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8062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TIM2+F+R4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11094.14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22982.28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24452.1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24736.37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E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18.384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6103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TVM+F+R4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11091.01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22978.02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24462.15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24736.53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E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728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GTR+F+R4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11088.54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22975.07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24473.67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C6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227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K2P+R4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11111.06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23006.13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24406.63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9C4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24738.12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C6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123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75F10CB-FA78-F6BC-528E-4BD7CE51680B}"/>
              </a:ext>
            </a:extLst>
          </p:cNvPr>
          <p:cNvSpPr txBox="1"/>
          <p:nvPr/>
        </p:nvSpPr>
        <p:spPr>
          <a:xfrm>
            <a:off x="514279" y="3377338"/>
            <a:ext cx="558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 15 models relative to a subset of 200 sequences</a:t>
            </a:r>
          </a:p>
        </p:txBody>
      </p:sp>
    </p:spTree>
    <p:extLst>
      <p:ext uri="{BB962C8B-B14F-4D97-AF65-F5344CB8AC3E}">
        <p14:creationId xmlns:p14="http://schemas.microsoft.com/office/powerpoint/2010/main" val="201462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8027B2-7CC6-DDB5-4335-82032210B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8275"/>
            <a:ext cx="2875798" cy="4016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AB9BFA-12BB-ADE8-C574-A2A4615CD2F7}"/>
              </a:ext>
            </a:extLst>
          </p:cNvPr>
          <p:cNvSpPr txBox="1"/>
          <p:nvPr/>
        </p:nvSpPr>
        <p:spPr>
          <a:xfrm>
            <a:off x="935742" y="2359742"/>
            <a:ext cx="1004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SYM+R4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B0B1C9-1EA7-0DCE-F207-232D45B8A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779" y="2848275"/>
            <a:ext cx="2875798" cy="40164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10EE57-3249-0374-C005-F1ED630BF3BC}"/>
              </a:ext>
            </a:extLst>
          </p:cNvPr>
          <p:cNvSpPr txBox="1"/>
          <p:nvPr/>
        </p:nvSpPr>
        <p:spPr>
          <a:xfrm>
            <a:off x="3866885" y="2359742"/>
            <a:ext cx="1247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GTR+F+G4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304369-76B7-F69C-2181-179A23674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110" y="2848275"/>
            <a:ext cx="2875798" cy="40164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EAF193-D407-D04B-82DB-0CD3577A79B7}"/>
              </a:ext>
            </a:extLst>
          </p:cNvPr>
          <p:cNvSpPr txBox="1"/>
          <p:nvPr/>
        </p:nvSpPr>
        <p:spPr>
          <a:xfrm>
            <a:off x="6836239" y="2359742"/>
            <a:ext cx="1223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GTR+F+R4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874CD2-A844-703A-E51D-A88445C5A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422" y="2848275"/>
            <a:ext cx="2875799" cy="40164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1C06F9-C2C7-45A0-E244-90F11D3AFBF8}"/>
              </a:ext>
            </a:extLst>
          </p:cNvPr>
          <p:cNvSpPr txBox="1"/>
          <p:nvPr/>
        </p:nvSpPr>
        <p:spPr>
          <a:xfrm>
            <a:off x="9970551" y="2359742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TIM2+F+I+G4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C04FAD-34C2-825D-EBDC-BB494DD1410E}"/>
              </a:ext>
            </a:extLst>
          </p:cNvPr>
          <p:cNvSpPr txBox="1"/>
          <p:nvPr/>
        </p:nvSpPr>
        <p:spPr>
          <a:xfrm>
            <a:off x="403654" y="3253947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26D1D6-DF64-4191-9C0A-BEF5F4DA9E7D}"/>
              </a:ext>
            </a:extLst>
          </p:cNvPr>
          <p:cNvSpPr txBox="1"/>
          <p:nvPr/>
        </p:nvSpPr>
        <p:spPr>
          <a:xfrm>
            <a:off x="363173" y="3746866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47F904-F0E2-8B1E-88C5-F1C0249E2C47}"/>
              </a:ext>
            </a:extLst>
          </p:cNvPr>
          <p:cNvSpPr txBox="1"/>
          <p:nvPr/>
        </p:nvSpPr>
        <p:spPr>
          <a:xfrm>
            <a:off x="346504" y="4344559"/>
            <a:ext cx="322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88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97749-8D13-6EEA-5C07-857E7D572E94}"/>
              </a:ext>
            </a:extLst>
          </p:cNvPr>
          <p:cNvSpPr txBox="1"/>
          <p:nvPr/>
        </p:nvSpPr>
        <p:spPr>
          <a:xfrm>
            <a:off x="693008" y="4189779"/>
            <a:ext cx="322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99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31BD82-A741-E96F-31C4-66E192E7E8EA}"/>
              </a:ext>
            </a:extLst>
          </p:cNvPr>
          <p:cNvSpPr txBox="1"/>
          <p:nvPr/>
        </p:nvSpPr>
        <p:spPr>
          <a:xfrm>
            <a:off x="207927" y="5299110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3BEA85-722E-6F62-5ACF-3805E50025C7}"/>
              </a:ext>
            </a:extLst>
          </p:cNvPr>
          <p:cNvSpPr txBox="1"/>
          <p:nvPr/>
        </p:nvSpPr>
        <p:spPr>
          <a:xfrm>
            <a:off x="771192" y="6080160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7EFEB6-23FB-E9F9-240F-640FC6BE05B9}"/>
              </a:ext>
            </a:extLst>
          </p:cNvPr>
          <p:cNvSpPr txBox="1"/>
          <p:nvPr/>
        </p:nvSpPr>
        <p:spPr>
          <a:xfrm>
            <a:off x="277574" y="6443922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88E0A9-AE46-90B5-E51F-6D445F6860BE}"/>
              </a:ext>
            </a:extLst>
          </p:cNvPr>
          <p:cNvSpPr txBox="1"/>
          <p:nvPr/>
        </p:nvSpPr>
        <p:spPr>
          <a:xfrm>
            <a:off x="750561" y="6349345"/>
            <a:ext cx="322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95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AE7A85-F215-74DB-645F-0EBAE34918AE}"/>
              </a:ext>
            </a:extLst>
          </p:cNvPr>
          <p:cNvSpPr txBox="1"/>
          <p:nvPr/>
        </p:nvSpPr>
        <p:spPr>
          <a:xfrm>
            <a:off x="3495522" y="3253947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42A91D-E153-E011-215B-80E1915DD36C}"/>
              </a:ext>
            </a:extLst>
          </p:cNvPr>
          <p:cNvSpPr txBox="1"/>
          <p:nvPr/>
        </p:nvSpPr>
        <p:spPr>
          <a:xfrm>
            <a:off x="3455041" y="3746866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C019A5-EDAF-079D-8B85-4D826BF02F92}"/>
              </a:ext>
            </a:extLst>
          </p:cNvPr>
          <p:cNvSpPr txBox="1"/>
          <p:nvPr/>
        </p:nvSpPr>
        <p:spPr>
          <a:xfrm>
            <a:off x="3380819" y="4350480"/>
            <a:ext cx="322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87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63AF10-CAC3-EEE2-E09E-751051490EEC}"/>
              </a:ext>
            </a:extLst>
          </p:cNvPr>
          <p:cNvSpPr txBox="1"/>
          <p:nvPr/>
        </p:nvSpPr>
        <p:spPr>
          <a:xfrm>
            <a:off x="3736263" y="4244279"/>
            <a:ext cx="322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99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3160AA-51F0-6C03-26FE-8C1B37BBE6D5}"/>
              </a:ext>
            </a:extLst>
          </p:cNvPr>
          <p:cNvSpPr txBox="1"/>
          <p:nvPr/>
        </p:nvSpPr>
        <p:spPr>
          <a:xfrm>
            <a:off x="3299795" y="5299110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7A107F-5D91-951D-5586-57ACFA8D73A9}"/>
              </a:ext>
            </a:extLst>
          </p:cNvPr>
          <p:cNvSpPr txBox="1"/>
          <p:nvPr/>
        </p:nvSpPr>
        <p:spPr>
          <a:xfrm>
            <a:off x="3736263" y="6082804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3DDDDF-240B-8C42-0DBA-8C1E8EF772E8}"/>
              </a:ext>
            </a:extLst>
          </p:cNvPr>
          <p:cNvSpPr txBox="1"/>
          <p:nvPr/>
        </p:nvSpPr>
        <p:spPr>
          <a:xfrm>
            <a:off x="3369442" y="6443922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7EE1E4-35DB-4A50-7D7A-07FD9E75663F}"/>
              </a:ext>
            </a:extLst>
          </p:cNvPr>
          <p:cNvSpPr txBox="1"/>
          <p:nvPr/>
        </p:nvSpPr>
        <p:spPr>
          <a:xfrm>
            <a:off x="3866885" y="6331268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DB5DC3-27E0-E46E-A175-B7225E9D69F0}"/>
              </a:ext>
            </a:extLst>
          </p:cNvPr>
          <p:cNvSpPr txBox="1"/>
          <p:nvPr/>
        </p:nvSpPr>
        <p:spPr>
          <a:xfrm>
            <a:off x="6472018" y="3253947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912049-F4F9-3014-C161-D1F456F10476}"/>
              </a:ext>
            </a:extLst>
          </p:cNvPr>
          <p:cNvSpPr txBox="1"/>
          <p:nvPr/>
        </p:nvSpPr>
        <p:spPr>
          <a:xfrm>
            <a:off x="6431537" y="3746866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C6F18E-7380-A606-F773-83D26654E390}"/>
              </a:ext>
            </a:extLst>
          </p:cNvPr>
          <p:cNvSpPr txBox="1"/>
          <p:nvPr/>
        </p:nvSpPr>
        <p:spPr>
          <a:xfrm>
            <a:off x="6341596" y="4367389"/>
            <a:ext cx="322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87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21B3BA-16C9-F699-FCD8-4B1E238136C0}"/>
              </a:ext>
            </a:extLst>
          </p:cNvPr>
          <p:cNvSpPr txBox="1"/>
          <p:nvPr/>
        </p:nvSpPr>
        <p:spPr>
          <a:xfrm>
            <a:off x="6685828" y="4276767"/>
            <a:ext cx="322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99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824088-C8B4-9F7B-1425-45DE223C4E90}"/>
              </a:ext>
            </a:extLst>
          </p:cNvPr>
          <p:cNvSpPr txBox="1"/>
          <p:nvPr/>
        </p:nvSpPr>
        <p:spPr>
          <a:xfrm>
            <a:off x="6276291" y="5299110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FE1346-6234-6682-39E8-482A9FFA4E85}"/>
              </a:ext>
            </a:extLst>
          </p:cNvPr>
          <p:cNvSpPr txBox="1"/>
          <p:nvPr/>
        </p:nvSpPr>
        <p:spPr>
          <a:xfrm>
            <a:off x="6685828" y="6093634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FE7EF1-6D3D-C582-D20E-9C58BBBCBDAE}"/>
              </a:ext>
            </a:extLst>
          </p:cNvPr>
          <p:cNvSpPr txBox="1"/>
          <p:nvPr/>
        </p:nvSpPr>
        <p:spPr>
          <a:xfrm>
            <a:off x="6294374" y="6454378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468598-88DE-6FB9-3793-ED09D224B007}"/>
              </a:ext>
            </a:extLst>
          </p:cNvPr>
          <p:cNvSpPr txBox="1"/>
          <p:nvPr/>
        </p:nvSpPr>
        <p:spPr>
          <a:xfrm>
            <a:off x="6812625" y="6320811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9609F2-30EA-1FDE-A8D9-C2C76D51286C}"/>
              </a:ext>
            </a:extLst>
          </p:cNvPr>
          <p:cNvSpPr txBox="1"/>
          <p:nvPr/>
        </p:nvSpPr>
        <p:spPr>
          <a:xfrm>
            <a:off x="9781387" y="3253947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409E6B-3316-EFC2-02C2-E039A9F0160F}"/>
              </a:ext>
            </a:extLst>
          </p:cNvPr>
          <p:cNvSpPr txBox="1"/>
          <p:nvPr/>
        </p:nvSpPr>
        <p:spPr>
          <a:xfrm>
            <a:off x="9740906" y="3746866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94D5FB-6619-8112-F35E-D158FBF9C138}"/>
              </a:ext>
            </a:extLst>
          </p:cNvPr>
          <p:cNvSpPr txBox="1"/>
          <p:nvPr/>
        </p:nvSpPr>
        <p:spPr>
          <a:xfrm>
            <a:off x="9781387" y="4353278"/>
            <a:ext cx="322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76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FB2B84-EA04-46D0-BA64-93D11DC837BE}"/>
              </a:ext>
            </a:extLst>
          </p:cNvPr>
          <p:cNvSpPr txBox="1"/>
          <p:nvPr/>
        </p:nvSpPr>
        <p:spPr>
          <a:xfrm>
            <a:off x="10190924" y="4234298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015D82-3A77-E843-5CCA-038052554161}"/>
              </a:ext>
            </a:extLst>
          </p:cNvPr>
          <p:cNvSpPr txBox="1"/>
          <p:nvPr/>
        </p:nvSpPr>
        <p:spPr>
          <a:xfrm>
            <a:off x="9585660" y="5299110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4CE039-EFEE-22BE-50A8-33C4A50E7D79}"/>
              </a:ext>
            </a:extLst>
          </p:cNvPr>
          <p:cNvSpPr txBox="1"/>
          <p:nvPr/>
        </p:nvSpPr>
        <p:spPr>
          <a:xfrm>
            <a:off x="9605348" y="6134123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3A5BD6-66AA-5E12-E00C-09F2E223E62A}"/>
              </a:ext>
            </a:extLst>
          </p:cNvPr>
          <p:cNvSpPr txBox="1"/>
          <p:nvPr/>
        </p:nvSpPr>
        <p:spPr>
          <a:xfrm>
            <a:off x="9801075" y="4464097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</a:t>
            </a:r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93277B-C1AA-5596-3F6A-0A157CE78179}"/>
              </a:ext>
            </a:extLst>
          </p:cNvPr>
          <p:cNvSpPr txBox="1"/>
          <p:nvPr/>
        </p:nvSpPr>
        <p:spPr>
          <a:xfrm>
            <a:off x="9826762" y="6349344"/>
            <a:ext cx="322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98</a:t>
            </a:r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AF20265-8496-F37D-1338-EBF906E305FA}"/>
              </a:ext>
            </a:extLst>
          </p:cNvPr>
          <p:cNvSpPr txBox="1"/>
          <p:nvPr/>
        </p:nvSpPr>
        <p:spPr>
          <a:xfrm>
            <a:off x="926217" y="208351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24717.984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DE6497-8FDE-1BFD-EFAC-75E09214148A}"/>
              </a:ext>
            </a:extLst>
          </p:cNvPr>
          <p:cNvSpPr txBox="1"/>
          <p:nvPr/>
        </p:nvSpPr>
        <p:spPr>
          <a:xfrm>
            <a:off x="3857360" y="2083517"/>
            <a:ext cx="1247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24827.766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CFF543-490E-EA75-E355-CE64CCD3DA1B}"/>
              </a:ext>
            </a:extLst>
          </p:cNvPr>
          <p:cNvSpPr txBox="1"/>
          <p:nvPr/>
        </p:nvSpPr>
        <p:spPr>
          <a:xfrm>
            <a:off x="6826714" y="208351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24738.001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47D5CF7-5EB1-A0C3-3511-EFCAA9BD485D}"/>
              </a:ext>
            </a:extLst>
          </p:cNvPr>
          <p:cNvSpPr txBox="1"/>
          <p:nvPr/>
        </p:nvSpPr>
        <p:spPr>
          <a:xfrm>
            <a:off x="9961026" y="208351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24757.577</a:t>
            </a:r>
          </a:p>
        </p:txBody>
      </p:sp>
      <p:sp>
        <p:nvSpPr>
          <p:cNvPr id="68" name="Title 1">
            <a:extLst>
              <a:ext uri="{FF2B5EF4-FFF2-40B4-BE49-F238E27FC236}">
                <a16:creationId xmlns:a16="http://schemas.microsoft.com/office/drawing/2014/main" id="{B99229C5-B7C5-8F65-ADEE-076FABD9516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Comparison of tree topology and bootstraps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AFE0548-4B75-8FE0-983C-9158DA43626F}"/>
              </a:ext>
            </a:extLst>
          </p:cNvPr>
          <p:cNvSpPr txBox="1"/>
          <p:nvPr/>
        </p:nvSpPr>
        <p:spPr>
          <a:xfrm>
            <a:off x="926217" y="1839251"/>
            <a:ext cx="2452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BIC (Lower the better)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2D9F262-A3CD-FFE4-9CB4-9E2674055B35}"/>
              </a:ext>
            </a:extLst>
          </p:cNvPr>
          <p:cNvSpPr/>
          <p:nvPr/>
        </p:nvSpPr>
        <p:spPr>
          <a:xfrm>
            <a:off x="9217394" y="4587207"/>
            <a:ext cx="2545981" cy="1054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21E0C96-C760-4A27-0714-D70E5081ACC4}"/>
              </a:ext>
            </a:extLst>
          </p:cNvPr>
          <p:cNvSpPr/>
          <p:nvPr/>
        </p:nvSpPr>
        <p:spPr>
          <a:xfrm>
            <a:off x="50631" y="3312497"/>
            <a:ext cx="787569" cy="9642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96CA18-ECA1-0062-9EFB-9FF3902282EA}"/>
              </a:ext>
            </a:extLst>
          </p:cNvPr>
          <p:cNvSpPr txBox="1"/>
          <p:nvPr/>
        </p:nvSpPr>
        <p:spPr>
          <a:xfrm>
            <a:off x="6210041" y="1219086"/>
            <a:ext cx="5810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Different models produce very similar topology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At the lineage level, boot strap support remains strong</a:t>
            </a:r>
          </a:p>
        </p:txBody>
      </p:sp>
    </p:spTree>
    <p:extLst>
      <p:ext uri="{BB962C8B-B14F-4D97-AF65-F5344CB8AC3E}">
        <p14:creationId xmlns:p14="http://schemas.microsoft.com/office/powerpoint/2010/main" val="1284686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18027-A13E-C180-08D2-C0E44647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information 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39D26-744F-F6C9-E7F2-AFB15D661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ModelFinder</a:t>
            </a:r>
            <a:r>
              <a:rPr lang="en-US" dirty="0"/>
              <a:t> Plus is a quantitative method for validating models</a:t>
            </a:r>
          </a:p>
          <a:p>
            <a:r>
              <a:rPr lang="en-US" dirty="0"/>
              <a:t>Most high-parameter base models will produce trees with similar bootstrap support and topology</a:t>
            </a:r>
          </a:p>
          <a:p>
            <a:r>
              <a:rPr lang="en-US" dirty="0"/>
              <a:t>It is up to journal reviewers to determine if model selection was appropriately validated</a:t>
            </a:r>
          </a:p>
        </p:txBody>
      </p:sp>
    </p:spTree>
    <p:extLst>
      <p:ext uri="{BB962C8B-B14F-4D97-AF65-F5344CB8AC3E}">
        <p14:creationId xmlns:p14="http://schemas.microsoft.com/office/powerpoint/2010/main" val="3253128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4F77-4796-C809-471A-321A7234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RAxML</a:t>
            </a:r>
            <a:r>
              <a:rPr lang="en-US" dirty="0"/>
              <a:t> and </a:t>
            </a:r>
            <a:r>
              <a:rPr lang="en-US" dirty="0" err="1"/>
              <a:t>RAxML</a:t>
            </a:r>
            <a:r>
              <a:rPr lang="en-US" dirty="0"/>
              <a:t>-NG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1732D-1BCA-C423-3B67-9E6487B57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Differing ML method</a:t>
            </a:r>
          </a:p>
          <a:p>
            <a:r>
              <a:rPr lang="en-US" dirty="0"/>
              <a:t>Implements related substitution models</a:t>
            </a:r>
          </a:p>
          <a:p>
            <a:r>
              <a:rPr lang="en-US" dirty="0"/>
              <a:t>Comparable results</a:t>
            </a:r>
          </a:p>
          <a:p>
            <a:endParaRPr lang="en-US" dirty="0"/>
          </a:p>
          <a:p>
            <a:r>
              <a:rPr lang="en-US" dirty="0"/>
              <a:t>If you maintain the &gt;70 bootstrap and metrics related to sequence similarity, this is also a valid method</a:t>
            </a:r>
          </a:p>
        </p:txBody>
      </p:sp>
    </p:spTree>
    <p:extLst>
      <p:ext uri="{BB962C8B-B14F-4D97-AF65-F5344CB8AC3E}">
        <p14:creationId xmlns:p14="http://schemas.microsoft.com/office/powerpoint/2010/main" val="4074309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803123-B801-4EBF-3543-C81AB0FF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methods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2A6E9-84E0-30F6-4653-CEA4F8465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01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ABD727-3956-5078-BBCF-3608F863C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Bayesian 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932EC5-88B3-42AB-30FD-ECFE086AE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support for Bayesian methods is noted as posterior branch support</a:t>
            </a:r>
          </a:p>
          <a:p>
            <a:r>
              <a:rPr lang="en-US" dirty="0"/>
              <a:t>Standard convergence metrics should be met</a:t>
            </a:r>
          </a:p>
          <a:p>
            <a:pPr lvl="1"/>
            <a:r>
              <a:rPr lang="en-US" dirty="0"/>
              <a:t>BEAST – ESS &gt; 200</a:t>
            </a:r>
          </a:p>
          <a:p>
            <a:r>
              <a:rPr lang="en-US" dirty="0"/>
              <a:t>Posterior branch support for clades should be &gt; 70</a:t>
            </a:r>
          </a:p>
          <a:p>
            <a:r>
              <a:rPr lang="en-US" dirty="0"/>
              <a:t>Bayesian methods typically take longer to run and are more computationally expensive</a:t>
            </a:r>
          </a:p>
        </p:txBody>
      </p:sp>
    </p:spTree>
    <p:extLst>
      <p:ext uri="{BB962C8B-B14F-4D97-AF65-F5344CB8AC3E}">
        <p14:creationId xmlns:p14="http://schemas.microsoft.com/office/powerpoint/2010/main" val="4156925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BE36-04B1-7CC9-5FAB-118B024CD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Non-recommended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E757E-AC65-09BE-2A36-3F4CA47FD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84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D7878F-B574-BB43-A7F2-631FABE45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to avoid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79C6A0-32A8-DC52-EB3A-CEF060B67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Neighbor-joining methods</a:t>
            </a:r>
          </a:p>
          <a:p>
            <a:pPr lvl="1"/>
            <a:r>
              <a:rPr lang="en-US" dirty="0"/>
              <a:t>Compresses genetic information into single metric</a:t>
            </a:r>
          </a:p>
          <a:p>
            <a:r>
              <a:rPr lang="en-US" dirty="0"/>
              <a:t>Parsimony methods</a:t>
            </a:r>
          </a:p>
          <a:p>
            <a:pPr lvl="1"/>
            <a:r>
              <a:rPr lang="en-US" dirty="0"/>
              <a:t>Not widely supported</a:t>
            </a:r>
          </a:p>
        </p:txBody>
      </p:sp>
    </p:spTree>
    <p:extLst>
      <p:ext uri="{BB962C8B-B14F-4D97-AF65-F5344CB8AC3E}">
        <p14:creationId xmlns:p14="http://schemas.microsoft.com/office/powerpoint/2010/main" val="231409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2387</TotalTime>
  <Words>1905</Words>
  <Application>Microsoft Office PowerPoint</Application>
  <PresentationFormat>Widescreen</PresentationFormat>
  <Paragraphs>370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Lucida Console</vt:lpstr>
      <vt:lpstr>Wingdings</vt:lpstr>
      <vt:lpstr>Office Theme</vt:lpstr>
      <vt:lpstr>Phylogenetic techniques for nomenclature acceptance</vt:lpstr>
      <vt:lpstr>Motivation</vt:lpstr>
      <vt:lpstr>Basic process</vt:lpstr>
      <vt:lpstr>1.1 Is your sequence quality good?</vt:lpstr>
      <vt:lpstr>1.2 Are your samples unique?</vt:lpstr>
      <vt:lpstr>2.1 Did you use a good reference set</vt:lpstr>
      <vt:lpstr>2.2 Do your sequences align well?</vt:lpstr>
      <vt:lpstr>2.3. Assessing distance to known sub-lineages</vt:lpstr>
      <vt:lpstr>3.1 Constructing a phylogenetic tree</vt:lpstr>
      <vt:lpstr>3.2 Assessing your phylogenetics</vt:lpstr>
      <vt:lpstr>4. Recombination</vt:lpstr>
      <vt:lpstr>5. Assessing relevance</vt:lpstr>
      <vt:lpstr>FINAL CHECKLIST AND FORMAT OF PROPOSAL</vt:lpstr>
      <vt:lpstr>Steering committee contact</vt:lpstr>
      <vt:lpstr>Auxiliary Information</vt:lpstr>
      <vt:lpstr>Recommended Criteria for establishing nomenclature</vt:lpstr>
      <vt:lpstr>Acceptable tree building strategies</vt:lpstr>
      <vt:lpstr>Recommended Criteria for establishing nomenclature</vt:lpstr>
      <vt:lpstr>Maximum Likelihood Methods</vt:lpstr>
      <vt:lpstr>IQ-Tree</vt:lpstr>
      <vt:lpstr>IQ-Tree models</vt:lpstr>
      <vt:lpstr>PowerPoint Presentation</vt:lpstr>
      <vt:lpstr>Additional information on models</vt:lpstr>
      <vt:lpstr>RAxML and RAxML-NG</vt:lpstr>
      <vt:lpstr>Bayesian methods</vt:lpstr>
      <vt:lpstr>Using Bayesian methods</vt:lpstr>
      <vt:lpstr>Non-recommended methods</vt:lpstr>
      <vt:lpstr>Methods to avoid</vt:lpstr>
    </vt:vector>
  </TitlesOfParts>
  <Company>Iowa State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Zeller, Michael A [VDPAM]</dc:creator>
  <cp:lastModifiedBy>Zeller, Michael A [VDPAM]</cp:lastModifiedBy>
  <cp:revision>87</cp:revision>
  <dcterms:created xsi:type="dcterms:W3CDTF">2026-02-14T16:02:43Z</dcterms:created>
  <dcterms:modified xsi:type="dcterms:W3CDTF">2026-04-23T00:01:55Z</dcterms:modified>
</cp:coreProperties>
</file>